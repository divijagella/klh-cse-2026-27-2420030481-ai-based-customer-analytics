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7"/>
    <p:sldId id="268" r:id="rId18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68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9.xml"/><Relationship Id="rId18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B2D52"/>
                </a:solidFill>
                <a:latin typeface="Aptos Display"/>
              </a:defRPr>
            </a:pPr>
            <a:r>
              <a:rPr sz="2600" b="1">
                <a:solidFill>
                  <a:srgbClr val="1B2D52"/>
                </a:solidFill>
                <a:latin typeface="Aptos"/>
              </a:rPr>
              <a:t>DATA ANALYTICS AND VISUALIZATION (24DSB3101)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256" y="1470992"/>
            <a:ext cx="9331785" cy="9694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900" b="1">
                <a:solidFill>
                  <a:srgbClr val="141414"/>
                </a:solidFill>
                <a:latin typeface="Aptos Display"/>
              </a:defRPr>
            </a:pPr>
            <a:r>
              <a:rPr sz="2800" b="1">
                <a:solidFill>
                  <a:srgbClr val="1B2D52"/>
                </a:solidFill>
                <a:latin typeface="Aptos"/>
              </a:rPr>
              <a:t>AI-Driven Customer Analytics for</a:t>
            </a:r>
            <a:endParaRPr dirty="0"/>
          </a:p>
          <a:p>
            <a:pPr algn="ctr"/>
            <a:r>
              <a:rPr sz="2800" b="1">
                <a:solidFill>
                  <a:srgbClr val="1B2D52"/>
                </a:solidFill>
                <a:latin typeface="Aptos"/>
              </a:rPr>
              <a:t>Purchase Prediction, Segmentation &amp; Business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886200"/>
            <a:ext cx="10515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41414"/>
                </a:solidFill>
                <a:latin typeface="Aptos"/>
              </a:defRPr>
            </a:pPr>
            <a:r>
              <a:rPr sz="1800" b="0">
                <a:solidFill>
                  <a:srgbClr val="222B36"/>
                </a:solidFill>
                <a:latin typeface="Aptos"/>
              </a:rPr>
              <a:t>PROJECT REVIEW – 2</a:t>
            </a:r>
          </a:p>
          <a:p>
            <a:pPr algn="ctr"/>
          </a:p>
          <a:p>
            <a:pPr algn="ctr"/>
            <a:r>
              <a:rPr sz="1800" b="0">
                <a:solidFill>
                  <a:srgbClr val="222B36"/>
                </a:solidFill>
                <a:latin typeface="Aptos"/>
              </a:rPr>
              <a:t>Batch – 6</a:t>
            </a:r>
          </a:p>
          <a:p>
            <a:pPr algn="ctr"/>
            <a:r>
              <a:rPr sz="1800" b="0">
                <a:solidFill>
                  <a:srgbClr val="222B36"/>
                </a:solidFill>
                <a:latin typeface="Aptos"/>
              </a:rPr>
              <a:t>2420030373 – M. Pallavi</a:t>
            </a:r>
          </a:p>
          <a:p>
            <a:pPr algn="ctr"/>
            <a:r>
              <a:rPr sz="1800" b="0">
                <a:solidFill>
                  <a:srgbClr val="222B36"/>
                </a:solidFill>
                <a:latin typeface="Aptos"/>
              </a:rPr>
              <a:t>2420030481 – G. Divija Medha</a:t>
            </a:r>
          </a:p>
          <a:p>
            <a:pPr algn="ctr"/>
            <a:r>
              <a:rPr sz="1800" b="0">
                <a:solidFill>
                  <a:srgbClr val="222B36"/>
                </a:solidFill>
                <a:latin typeface="Aptos"/>
              </a:rPr>
              <a:t>2420090067 – Sheri Saswitha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2.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Customer datasets are collected from telecom, wholesale and online retail sources.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Data preprocessing includes cleaning, missing-value handling, validation, encoding and scaling.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Exploratory Data Analysis (EDA) is used to identify customer behavior, spending and purchase patterns.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RFM-style features — Recency, Frequency and Monetary/Spending — are used for customer analysis.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Machine Learning is applied for purchase prediction and customer segmentation.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SHAP and LIME are included in the Explainable AI stage.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Streamlit integrates the analytics into an interactive Business Intelligence dashboard.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4B4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3. 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Data Layer: cleaned customer datasets and customer-level feature data.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Processing Layer: Pandas, NumPy, validation, feature engineering and standardization.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ML Layer: Logistic Regression for purchase prediction and K-Means for customer segmentation.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Explainability Layer: SHAP/LIME for interpreting model-driven insights.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Application Layer: Streamlit dashboard with interactive visualizations.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Output Layer: predictions, customer segments, analytics and business insights.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4B4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4. System Design –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5303520" cy="1298448"/>
          </a:xfrm>
          <a:prstGeom prst="roundRect">
            <a:avLst/>
          </a:prstGeom>
          <a:solidFill>
            <a:srgbClr val="F2F5FB"/>
          </a:solidFill>
          <a:ln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58952" y="1161288"/>
            <a:ext cx="4983480" cy="1078992"/>
          </a:xfrm>
          <a:prstGeom prst="rect">
            <a:avLst/>
          </a:prstGeom>
          <a:solidFill>
            <a:srgbClr val="F2F5FB"/>
          </a:solidFill>
          <a:ln>
            <a:solidFill>
              <a:srgbClr val="1B2D52"/>
            </a:solidFill>
          </a:ln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B2D52"/>
                </a:solidFill>
              </a:defRPr>
            </a:pPr>
            <a:r>
              <a:rPr sz="1400" b="0">
                <a:solidFill>
                  <a:srgbClr val="222B36"/>
                </a:solidFill>
                <a:latin typeface="Aptos"/>
              </a:rPr>
              <a:t>DATA INPUT</a:t>
            </a:r>
          </a:p>
          <a:p>
            <a:pPr algn="ctr"/>
            <a:r>
              <a:rPr sz="1400" b="0">
                <a:solidFill>
                  <a:srgbClr val="222B36"/>
                </a:solidFill>
                <a:latin typeface="Aptos"/>
              </a:rPr>
              <a:t>Telecom</a:t>
            </a:r>
          </a:p>
          <a:p>
            <a:pPr algn="ctr"/>
            <a:r>
              <a:rPr sz="1400" b="0">
                <a:solidFill>
                  <a:srgbClr val="222B36"/>
                </a:solidFill>
                <a:latin typeface="Aptos"/>
              </a:rPr>
              <a:t>Wholesale</a:t>
            </a:r>
          </a:p>
          <a:p>
            <a:pPr algn="ctr"/>
            <a:r>
              <a:rPr sz="1400" b="0">
                <a:solidFill>
                  <a:srgbClr val="222B36"/>
                </a:solidFill>
                <a:latin typeface="Aptos"/>
              </a:rPr>
              <a:t>Online Retail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051560"/>
            <a:ext cx="5303520" cy="1298448"/>
          </a:xfrm>
          <a:prstGeom prst="roundRect">
            <a:avLst/>
          </a:prstGeom>
          <a:solidFill>
            <a:srgbClr val="F2F5FB"/>
          </a:solidFill>
          <a:ln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73952" y="1161288"/>
            <a:ext cx="4983480" cy="1078992"/>
          </a:xfrm>
          <a:prstGeom prst="rect">
            <a:avLst/>
          </a:prstGeom>
          <a:solidFill>
            <a:srgbClr val="F2F5FB"/>
          </a:solidFill>
          <a:ln>
            <a:solidFill>
              <a:srgbClr val="1B2D52"/>
            </a:solidFill>
          </a:ln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B2D52"/>
                </a:solidFill>
              </a:defRPr>
            </a:pPr>
            <a:r>
              <a:rPr sz="1400" b="0">
                <a:solidFill>
                  <a:srgbClr val="222B36"/>
                </a:solidFill>
                <a:latin typeface="Aptos"/>
              </a:rPr>
              <a:t>PREPROCESSING</a:t>
            </a:r>
          </a:p>
          <a:p>
            <a:pPr algn="ctr"/>
            <a:r>
              <a:rPr sz="1400" b="0">
                <a:solidFill>
                  <a:srgbClr val="222B36"/>
                </a:solidFill>
                <a:latin typeface="Aptos"/>
              </a:rPr>
              <a:t>Cleaning</a:t>
            </a:r>
          </a:p>
          <a:p>
            <a:pPr algn="ctr"/>
            <a:r>
              <a:rPr sz="1400" b="0">
                <a:solidFill>
                  <a:srgbClr val="222B36"/>
                </a:solidFill>
                <a:latin typeface="Aptos"/>
              </a:rPr>
              <a:t>Validation</a:t>
            </a:r>
          </a:p>
          <a:p>
            <a:pPr algn="ctr"/>
            <a:r>
              <a:rPr sz="1400" b="0">
                <a:solidFill>
                  <a:srgbClr val="222B36"/>
                </a:solidFill>
                <a:latin typeface="Aptos"/>
              </a:rPr>
              <a:t>Scaling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651760"/>
            <a:ext cx="5303520" cy="1298448"/>
          </a:xfrm>
          <a:prstGeom prst="roundRect">
            <a:avLst/>
          </a:prstGeom>
          <a:solidFill>
            <a:srgbClr val="F2F5FB"/>
          </a:solidFill>
          <a:ln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2761488"/>
            <a:ext cx="4983480" cy="1078992"/>
          </a:xfrm>
          <a:prstGeom prst="rect">
            <a:avLst/>
          </a:prstGeom>
          <a:solidFill>
            <a:srgbClr val="F2F5FB"/>
          </a:solidFill>
          <a:ln>
            <a:solidFill>
              <a:srgbClr val="1B2D52"/>
            </a:solidFill>
          </a:ln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B2D52"/>
                </a:solidFill>
              </a:defRPr>
            </a:pPr>
            <a:r>
              <a:rPr sz="1400" b="0">
                <a:solidFill>
                  <a:srgbClr val="222B36"/>
                </a:solidFill>
                <a:latin typeface="Aptos"/>
              </a:rPr>
              <a:t>ANALYTICS</a:t>
            </a:r>
          </a:p>
          <a:p>
            <a:pPr algn="ctr"/>
            <a:r>
              <a:rPr sz="1400" b="0">
                <a:solidFill>
                  <a:srgbClr val="222B36"/>
                </a:solidFill>
                <a:latin typeface="Aptos"/>
              </a:rPr>
              <a:t>EDA</a:t>
            </a:r>
          </a:p>
          <a:p>
            <a:pPr algn="ctr"/>
            <a:r>
              <a:rPr sz="1400" b="0">
                <a:solidFill>
                  <a:srgbClr val="222B36"/>
                </a:solidFill>
                <a:latin typeface="Aptos"/>
              </a:rPr>
              <a:t>RFM Features</a:t>
            </a:r>
          </a:p>
          <a:p>
            <a:pPr algn="ctr"/>
            <a:r>
              <a:rPr sz="1400" b="0">
                <a:solidFill>
                  <a:srgbClr val="222B36"/>
                </a:solidFill>
                <a:latin typeface="Aptos"/>
              </a:rPr>
              <a:t>Customer Metrics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651760"/>
            <a:ext cx="5303520" cy="1298448"/>
          </a:xfrm>
          <a:prstGeom prst="roundRect">
            <a:avLst/>
          </a:prstGeom>
          <a:solidFill>
            <a:srgbClr val="F2F5FB"/>
          </a:solidFill>
          <a:ln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2761488"/>
            <a:ext cx="4983480" cy="1078992"/>
          </a:xfrm>
          <a:prstGeom prst="rect">
            <a:avLst/>
          </a:prstGeom>
          <a:solidFill>
            <a:srgbClr val="F2F5FB"/>
          </a:solidFill>
          <a:ln>
            <a:solidFill>
              <a:srgbClr val="1B2D52"/>
            </a:solidFill>
          </a:ln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B2D52"/>
                </a:solidFill>
              </a:defRPr>
            </a:pPr>
            <a:r>
              <a:rPr sz="1400" b="0">
                <a:solidFill>
                  <a:srgbClr val="222B36"/>
                </a:solidFill>
                <a:latin typeface="Aptos"/>
              </a:rPr>
              <a:t>ML MODELS</a:t>
            </a:r>
          </a:p>
          <a:p>
            <a:pPr algn="ctr"/>
            <a:r>
              <a:rPr sz="1400" b="0">
                <a:solidFill>
                  <a:srgbClr val="222B36"/>
                </a:solidFill>
                <a:latin typeface="Aptos"/>
              </a:rPr>
              <a:t>Logistic Regression</a:t>
            </a:r>
          </a:p>
          <a:p>
            <a:pPr algn="ctr"/>
            <a:r>
              <a:rPr sz="1400" b="0">
                <a:solidFill>
                  <a:srgbClr val="222B36"/>
                </a:solidFill>
                <a:latin typeface="Aptos"/>
              </a:rPr>
              <a:t>K-Means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4251960"/>
            <a:ext cx="5303520" cy="1298448"/>
          </a:xfrm>
          <a:prstGeom prst="roundRect">
            <a:avLst/>
          </a:prstGeom>
          <a:solidFill>
            <a:srgbClr val="F2F5FB"/>
          </a:solidFill>
          <a:ln>
            <a:solidFill>
              <a:srgbClr val="DC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4361688"/>
            <a:ext cx="4983480" cy="1078992"/>
          </a:xfrm>
          <a:prstGeom prst="rect">
            <a:avLst/>
          </a:prstGeom>
          <a:solidFill>
            <a:srgbClr val="F2F5FB"/>
          </a:solidFill>
          <a:ln>
            <a:solidFill>
              <a:srgbClr val="1B2D52"/>
            </a:solidFill>
          </a:ln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B2D52"/>
                </a:solidFill>
              </a:defRPr>
            </a:pPr>
            <a:r>
              <a:rPr sz="1400" b="0">
                <a:solidFill>
                  <a:srgbClr val="222B36"/>
                </a:solidFill>
                <a:latin typeface="Aptos"/>
              </a:rPr>
              <a:t>XAI + BI</a:t>
            </a:r>
          </a:p>
          <a:p>
            <a:pPr algn="ctr"/>
            <a:r>
              <a:rPr sz="1400" b="0">
                <a:solidFill>
                  <a:srgbClr val="222B36"/>
                </a:solidFill>
                <a:latin typeface="Aptos"/>
              </a:rPr>
              <a:t>SHAP / LIME</a:t>
            </a:r>
          </a:p>
          <a:p>
            <a:pPr algn="ctr"/>
            <a:r>
              <a:rPr sz="1400" b="0">
                <a:solidFill>
                  <a:srgbClr val="222B36"/>
                </a:solidFill>
                <a:latin typeface="Aptos"/>
              </a:rPr>
              <a:t>Streamlit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9893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B2D52"/>
                </a:solidFill>
              </a:defRPr>
            </a:pPr>
            <a:r>
              <a:rPr sz="1400" b="1">
                <a:solidFill>
                  <a:srgbClr val="1B2D52"/>
                </a:solidFill>
                <a:latin typeface="Aptos"/>
              </a:rPr>
              <a:t>Flow: Data → Preprocessing → EDA/RFM → ML → XAI → Dashboard → Business 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4B4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222B36"/>
                </a:solidFill>
                <a:latin typeface="Aptos"/>
              </a:rPr>
              <a:t>Python</a:t>
            </a:r>
          </a:p>
          <a:p>
            <a:r>
              <a:rPr sz="1300" b="0">
                <a:solidFill>
                  <a:srgbClr val="222B36"/>
                </a:solidFill>
                <a:latin typeface="Aptos"/>
              </a:rPr>
              <a:t>Core implementation language for analytics and application logic.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51560"/>
          <a:ext cx="11475718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9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2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4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93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839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Paper</a:t>
                      </a:r>
                    </a:p>
                  </a:txBody>
                  <a:tcPr marL="45720" marR="36576" marT="27432" marB="27432">
                    <a:solidFill>
                      <a:srgbClr val="1B2D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Year</a:t>
                      </a:r>
                    </a:p>
                  </a:txBody>
                  <a:tcPr marL="45720" marR="36576" marT="27432" marB="27432">
                    <a:solidFill>
                      <a:srgbClr val="1B2D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Publication</a:t>
                      </a:r>
                    </a:p>
                  </a:txBody>
                  <a:tcPr marL="45720" marR="36576" marT="27432" marB="27432">
                    <a:solidFill>
                      <a:srgbClr val="1B2D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Key Contribution</a:t>
                      </a:r>
                    </a:p>
                  </a:txBody>
                  <a:tcPr marL="45720" marR="36576" marT="27432" marB="27432">
                    <a:solidFill>
                      <a:srgbClr val="1B2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Research on E-Commerce Purchase Prediction Model Based on Machine Learning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2023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Frontiers in AI and AI Applications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Uses machine learning to predict customer purchasing behavior from e-commerce data.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Retail Industry Analytics: Unraveling Consumer Behavior through RFM Segmentation and Machine Learning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2024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IEEE – eIT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Combines RFM analysis with machine learning for consumer segmentation and CLV analysis.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Customer Churn Prediction Model using Explainable Machine Learning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2023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arXiv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Uses ML and SHAP-based explanations to identify factors influencing customer churn.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A Data-Driven Approach to Customer Lifetime Value Prediction Using Probability and Machine Learning Models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2025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Data Analytics Journal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Compares approaches for predicting customer lifetime value and supporting business decisions.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A Hybrid CNN-BiLSTM Approach for Predicting the Purchase Behavior of Customers in E-Commerce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2026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Scientific Reports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Uses deep learning to capture complex customer purchase behavior patterns.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7572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backend.py contains reusable data-loading, dataset-information, segmentation and purchase-model functions.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app.py provides the Streamlit interface and page navigation.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Four CSV inputs are supported: telecom_cleaned.csv, wholesale_cleaned.csv, online_retail_cleaned.csv and online_retail_customer_features.csv.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Dataset Explorer reports rows, columns, missing values and duplicates.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EDA provides charts for distributions, churn, channels and revenue trends.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Customer Intelligence, Purchase Prediction, Customer Segmentation and Business Intelligence are separate modules.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7. Prototype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51560"/>
          <a:ext cx="11475718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9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2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4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93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839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Paper</a:t>
                      </a:r>
                    </a:p>
                  </a:txBody>
                  <a:tcPr marL="45720" marR="36576" marT="27432" marB="27432">
                    <a:solidFill>
                      <a:srgbClr val="1B2D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Year</a:t>
                      </a:r>
                    </a:p>
                  </a:txBody>
                  <a:tcPr marL="45720" marR="36576" marT="27432" marB="27432">
                    <a:solidFill>
                      <a:srgbClr val="1B2D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Publication</a:t>
                      </a:r>
                    </a:p>
                  </a:txBody>
                  <a:tcPr marL="45720" marR="36576" marT="27432" marB="27432">
                    <a:solidFill>
                      <a:srgbClr val="1B2D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Key Contribution</a:t>
                      </a:r>
                    </a:p>
                  </a:txBody>
                  <a:tcPr marL="45720" marR="36576" marT="27432" marB="27432">
                    <a:solidFill>
                      <a:srgbClr val="1B2D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Supervised Distance Metric Learning with RFM-Based Business Knowledge for Customer Segmentation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2026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Procedia Computer Science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Combines RFM business knowledge with machine learning for customer segmentation.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Automating Consumer Segmentation in E-Commerce Using Clustering and the NSGA-II Algorithm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2026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Procedia Computer Science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Uses clustering and optimization for scalable customer segmentation.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Explainable AI-Driven Customer Churn Prediction: A Multi-Model Ensemble Approach with SHAP-Based Feature Analysis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2026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Frontiers in Artificial Intelligence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Combines ensemble ML models with SHAP for churn prediction and interpretation.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Forecasting Online Shoppers’ Purchase Intentions Using Machine Learning and Ensemble Modeling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2026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Springer – LNICST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Uses ML and ensemble models to predict online purchase intentions.</a:t>
                      </a:r>
                    </a:p>
                  </a:txBody>
                  <a:tcPr marL="45720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Predicting E-Commerce Purchase Behavior Using a DQN-Inspired Deep Learning Model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2025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arXiv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41414"/>
                          </a:solidFill>
                          <a:latin typeface="Aptos"/>
                        </a:defRPr>
                      </a:pPr>
                      <a:r>
                        <a:t>Uses deep learning to model complex and sequential e-commerce purchase patterns.</a:t>
                      </a:r>
                    </a:p>
                  </a:txBody>
                  <a:tcPr marL="45720" marR="36576" marT="27432" marB="27432">
                    <a:solidFill>
                      <a:srgbClr val="F2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7572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The Streamlit prototype was implemented with a wide dashboard layout and sidebar navigation.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Notebook validation successfully loaded the telecom dataset with shape (100, 19).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The application supports dataset overview, data-quality inspection and interactive EDA.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Purchase Prediction creates a repeat-purchase target using Number_of_Invoices ≥ 2.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Customer Segmentation uses standardized Recency_Days, Number_of_Invoices and Total_Spending features with K-Means.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Results can be downloaded as CSV files for further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8. Performance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Purchase prediction is evaluated using Accuracy, Precision, Recall, F1-score and ROC-AUC.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The dataset is split into training and testing sets using an 80:20 split with stratification.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StandardScaler is applied before Logistic Regression.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Customer segmentation is evaluated using cluster summaries such as customer count, recency, frequency and spending.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Final model scores should be reported after running the complete application on the final project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4B4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9. Explainable AI &amp; Business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554480"/>
            <a:ext cx="2103120" cy="2834640"/>
          </a:xfrm>
          <a:prstGeom prst="roundRect">
            <a:avLst/>
          </a:prstGeom>
          <a:solidFill>
            <a:srgbClr val="F2F5FB"/>
          </a:solidFill>
          <a:ln>
            <a:solidFill>
              <a:srgbClr val="1B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8912" y="1737360"/>
            <a:ext cx="1874519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B2D52"/>
                </a:solidFill>
              </a:defRPr>
            </a:pPr>
            <a:r>
              <a:rPr sz="1400" b="1">
                <a:solidFill>
                  <a:srgbClr val="1B2D52"/>
                </a:solidFill>
                <a:latin typeface="Aptos"/>
              </a:rPr>
              <a:t>Accuracy</a:t>
            </a:r>
          </a:p>
          <a:p>
            <a:pPr algn="ctr"/>
          </a:p>
          <a:p>
            <a:pPr algn="ctr"/>
            <a:r>
              <a:rPr sz="1400" b="1">
                <a:solidFill>
                  <a:srgbClr val="1B2D52"/>
                </a:solidFill>
                <a:latin typeface="Aptos"/>
              </a:rPr>
              <a:t>Overall correct predictions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70048" y="1554480"/>
            <a:ext cx="2103120" cy="2834640"/>
          </a:xfrm>
          <a:prstGeom prst="roundRect">
            <a:avLst/>
          </a:prstGeom>
          <a:solidFill>
            <a:srgbClr val="F2F5FB"/>
          </a:solidFill>
          <a:ln>
            <a:solidFill>
              <a:srgbClr val="1B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88920" y="1737360"/>
            <a:ext cx="1874519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B2D52"/>
                </a:solidFill>
              </a:defRPr>
            </a:pPr>
            <a:r>
              <a:rPr sz="1400" b="1">
                <a:solidFill>
                  <a:srgbClr val="1B2D52"/>
                </a:solidFill>
                <a:latin typeface="Aptos"/>
              </a:rPr>
              <a:t>Precision</a:t>
            </a:r>
          </a:p>
          <a:p>
            <a:pPr algn="ctr"/>
          </a:p>
          <a:p>
            <a:pPr algn="ctr"/>
            <a:r>
              <a:rPr sz="1400" b="1">
                <a:solidFill>
                  <a:srgbClr val="1B2D52"/>
                </a:solidFill>
                <a:latin typeface="Aptos"/>
              </a:rPr>
              <a:t>Correctness of positive predictions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0055" y="1554480"/>
            <a:ext cx="2103120" cy="2834640"/>
          </a:xfrm>
          <a:prstGeom prst="roundRect">
            <a:avLst/>
          </a:prstGeom>
          <a:solidFill>
            <a:srgbClr val="F2F5FB"/>
          </a:solidFill>
          <a:ln>
            <a:solidFill>
              <a:srgbClr val="1B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38927" y="1737360"/>
            <a:ext cx="1874519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B2D52"/>
                </a:solidFill>
              </a:defRPr>
            </a:pPr>
            <a:r>
              <a:rPr sz="1400" b="1">
                <a:solidFill>
                  <a:srgbClr val="1B2D52"/>
                </a:solidFill>
                <a:latin typeface="Aptos"/>
              </a:rPr>
              <a:t>Recall</a:t>
            </a:r>
          </a:p>
          <a:p>
            <a:pPr algn="ctr"/>
          </a:p>
          <a:p>
            <a:pPr algn="ctr"/>
            <a:r>
              <a:rPr sz="1400" b="1">
                <a:solidFill>
                  <a:srgbClr val="1B2D52"/>
                </a:solidFill>
                <a:latin typeface="Aptos"/>
              </a:rPr>
              <a:t>Detection of repeat-purchase cases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70063" y="1554480"/>
            <a:ext cx="2103120" cy="2834640"/>
          </a:xfrm>
          <a:prstGeom prst="roundRect">
            <a:avLst/>
          </a:prstGeom>
          <a:solidFill>
            <a:srgbClr val="F2F5FB"/>
          </a:solidFill>
          <a:ln>
            <a:solidFill>
              <a:srgbClr val="1B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88936" y="1737360"/>
            <a:ext cx="1874519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B2D52"/>
                </a:solidFill>
              </a:defRPr>
            </a:pPr>
            <a:r>
              <a:rPr sz="1400" b="1">
                <a:solidFill>
                  <a:srgbClr val="1B2D52"/>
                </a:solidFill>
                <a:latin typeface="Aptos"/>
              </a:rPr>
              <a:t>F1-score</a:t>
            </a:r>
          </a:p>
          <a:p>
            <a:pPr algn="ctr"/>
          </a:p>
          <a:p>
            <a:pPr algn="ctr"/>
            <a:r>
              <a:rPr sz="1400" b="1">
                <a:solidFill>
                  <a:srgbClr val="1B2D52"/>
                </a:solidFill>
                <a:latin typeface="Aptos"/>
              </a:rPr>
              <a:t>Balance of precision and recall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20072" y="1554480"/>
            <a:ext cx="2103120" cy="2834640"/>
          </a:xfrm>
          <a:prstGeom prst="roundRect">
            <a:avLst/>
          </a:prstGeom>
          <a:solidFill>
            <a:srgbClr val="F2F5FB"/>
          </a:solidFill>
          <a:ln>
            <a:solidFill>
              <a:srgbClr val="1B2D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38944" y="1737360"/>
            <a:ext cx="1874519" cy="2468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B2D52"/>
                </a:solidFill>
              </a:defRPr>
            </a:pPr>
            <a:r>
              <a:rPr sz="1400" b="1">
                <a:solidFill>
                  <a:srgbClr val="1B2D52"/>
                </a:solidFill>
                <a:latin typeface="Aptos"/>
              </a:rPr>
              <a:t>ROC-AUC</a:t>
            </a:r>
          </a:p>
          <a:p>
            <a:pPr algn="ctr"/>
          </a:p>
          <a:p>
            <a:pPr algn="ctr"/>
            <a:r>
              <a:rPr sz="1400" b="1">
                <a:solidFill>
                  <a:srgbClr val="1B2D52"/>
                </a:solidFill>
                <a:latin typeface="Aptos"/>
              </a:rPr>
              <a:t>Classification ranking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892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000"/>
              </a:spcAft>
              <a:defRPr sz="1700" b="1">
                <a:solidFill>
                  <a:srgbClr val="222B36"/>
                </a:solidFill>
                <a:latin typeface="Aptos"/>
              </a:defRPr>
            </a:pPr>
            <a:r>
              <a:t>• SHAP and LIME are planned to explain which customer features influence ML predictions.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Streamlit presents predictions and analytics in a business-friendly interface.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High-spending customers and potential re-engagement customers can be identified.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Customer-level intelligence supports targeted analysis.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The combined ML + XAI + BI approach converts model outputs into understandable business insights.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7572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4B4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10. Research Paper Draft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Title and Abstract – summarize the integrated customer analytics framework.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Introduction – describe the customer purchase analytics problem and motivation.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Literature Survey – review purchase prediction, RFM, churn, CLV, segmentation and explainable AI.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Research Gap – highlight the lack of an integrated ML + XAI + BI framework.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Methodology &amp; System Design – document data processing, ML models, XAI and Streamlit architecture.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Results &amp; Evaluation – present experiments, metrics, visualizations and observations.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Conclusion &amp; Future Scope – summarize contributions and planned improvements.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>
                <a:solidFill>
                  <a:srgbClr val="000000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49808"/>
          </a:xfrm>
          <a:prstGeom prst="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11. Current Status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Research and problem definition are completed.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Data loading and preprocessing workflow are implemented.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Streamlit prototype and core analytics modules are implemented.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Purchase prediction and K-Means segmentation are integrated.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Next focus: complete SHAP/LIME analysis, compare additional ML models and record final performance metrics.</a:t>
            </a:r>
          </a:p>
          <a:p>
            <a:pPr>
              <a:spcAft>
                <a:spcPts val="1000"/>
              </a:spcAft>
              <a:defRPr sz="1700">
                <a:solidFill>
                  <a:srgbClr val="222B36"/>
                </a:solidFill>
                <a:latin typeface="Aptos"/>
              </a:defRPr>
            </a:pPr>
            <a:r>
              <a:t>• Finalize research-paper results, discussion, conclusion and presentation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rPr sz="1000">
                <a:solidFill>
                  <a:srgbClr val="00000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11. Proposed Work &amp; Uniqueness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41414"/>
                </a:solidFill>
                <a:latin typeface="Aptos"/>
              </a:defRPr>
            </a:pPr>
            <a:r>
              <a:rPr sz="1600" b="0">
                <a:solidFill>
                  <a:srgbClr val="222B36"/>
                </a:solidFill>
                <a:latin typeface="Aptos"/>
              </a:rPr>
              <a:t>• Integrates purchase prediction, customer segmentation, churn and CLV-oriented analytics.</a:t>
            </a:r>
          </a:p>
          <a:p>
            <a:r>
              <a:rPr sz="1600" b="0">
                <a:solidFill>
                  <a:srgbClr val="222B36"/>
                </a:solidFill>
                <a:latin typeface="Aptos"/>
              </a:rPr>
              <a:t>• Combines RFM-style customer value features with Machine Learning.</a:t>
            </a:r>
          </a:p>
          <a:p>
            <a:r>
              <a:rPr sz="1600" b="0">
                <a:solidFill>
                  <a:srgbClr val="222B36"/>
                </a:solidFill>
                <a:latin typeface="Aptos"/>
              </a:rPr>
              <a:t>• Uses SHAP and LIME as the Explainable AI layer.</a:t>
            </a:r>
          </a:p>
          <a:p>
            <a:r>
              <a:rPr sz="1600" b="0">
                <a:solidFill>
                  <a:srgbClr val="222B36"/>
                </a:solidFill>
                <a:latin typeface="Aptos"/>
              </a:rPr>
              <a:t>• Provides an interactive Streamlit Business Intelligence dashboard.</a:t>
            </a:r>
          </a:p>
          <a:p>
            <a:r>
              <a:rPr sz="1600" b="0">
                <a:solidFill>
                  <a:srgbClr val="222B36"/>
                </a:solidFill>
                <a:latin typeface="Aptos"/>
              </a:rPr>
              <a:t>• Separates backend analytics logic from the application interface.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80644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B2D52"/>
                </a:solidFill>
              </a:defRPr>
            </a:pPr>
            <a:r>
              <a:rPr sz="1400" b="1">
                <a:solidFill>
                  <a:srgbClr val="1B2D52"/>
                </a:solidFill>
                <a:latin typeface="Aptos"/>
              </a:rPr>
              <a:t>Customer Data → Preprocessing → EDA &amp; RFM → ML → Evaluation → XAI → Dashboard → Business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4B4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18872"/>
            <a:ext cx="11155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Aptos"/>
              </a:rPr>
              <a:t>12.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24128"/>
            <a:ext cx="10789920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50">
                <a:solidFill>
                  <a:srgbClr val="141414"/>
                </a:solidFill>
                <a:latin typeface="Aptos"/>
              </a:defRPr>
            </a:pPr>
            <a:r>
              <a:t>• [1] Research on E-Commerce Purchase Prediction Model Based on Machine Learning, Frontiers in Artificial Intelligence and Applications, 2023.</a:t>
            </a:r>
          </a:p>
          <a:p>
            <a:pPr>
              <a:spcAft>
                <a:spcPts val="1200"/>
              </a:spcAft>
              <a:defRPr sz="1250">
                <a:solidFill>
                  <a:srgbClr val="141414"/>
                </a:solidFill>
                <a:latin typeface="Aptos"/>
              </a:defRPr>
            </a:pPr>
            <a:r>
              <a:t>• [2] Retail Industry Analytics: Unraveling Consumer Behavior through RFM Segmentation and Machine Learning, IEEE eIT, 2024.</a:t>
            </a:r>
          </a:p>
          <a:p>
            <a:pPr>
              <a:spcAft>
                <a:spcPts val="1200"/>
              </a:spcAft>
              <a:defRPr sz="1250">
                <a:solidFill>
                  <a:srgbClr val="141414"/>
                </a:solidFill>
                <a:latin typeface="Aptos"/>
              </a:defRPr>
            </a:pPr>
            <a:r>
              <a:t>• [3] Customer Churn Prediction Model using Explainable Machine Learning, 2023.</a:t>
            </a:r>
          </a:p>
          <a:p>
            <a:pPr>
              <a:spcAft>
                <a:spcPts val="1200"/>
              </a:spcAft>
              <a:defRPr sz="1250">
                <a:solidFill>
                  <a:srgbClr val="141414"/>
                </a:solidFill>
                <a:latin typeface="Aptos"/>
              </a:defRPr>
            </a:pPr>
            <a:r>
              <a:t>• [4] A Data-Driven Approach to Customer Lifetime Value Prediction Using Probability and Machine Learning Models, 2025.</a:t>
            </a:r>
          </a:p>
          <a:p>
            <a:pPr>
              <a:spcAft>
                <a:spcPts val="1200"/>
              </a:spcAft>
              <a:defRPr sz="1250">
                <a:solidFill>
                  <a:srgbClr val="141414"/>
                </a:solidFill>
                <a:latin typeface="Aptos"/>
              </a:defRPr>
            </a:pPr>
            <a:r>
              <a:t>• [5] A Hybrid CNN-BiLSTM Approach for Predicting the Purchase Behavior of Customers in E-Commerce, Scientific Reports, 2026.</a:t>
            </a:r>
          </a:p>
          <a:p>
            <a:pPr>
              <a:spcAft>
                <a:spcPts val="1200"/>
              </a:spcAft>
              <a:defRPr sz="1250">
                <a:solidFill>
                  <a:srgbClr val="141414"/>
                </a:solidFill>
                <a:latin typeface="Aptos"/>
              </a:defRPr>
            </a:pPr>
            <a:r>
              <a:t>• [6] Supervised Distance Metric Learning with RFM-Based Business Knowledge for Customer Segmentation, Procedia Computer Science, 2026.</a:t>
            </a:r>
          </a:p>
          <a:p>
            <a:pPr>
              <a:spcAft>
                <a:spcPts val="1200"/>
              </a:spcAft>
              <a:defRPr sz="1250">
                <a:solidFill>
                  <a:srgbClr val="141414"/>
                </a:solidFill>
                <a:latin typeface="Aptos"/>
              </a:defRPr>
            </a:pPr>
            <a:r>
              <a:t>• [7] Automating Consumer Segmentation in E-Commerce Using Clustering and the NSGA-II Algorithm, Procedia Computer Science, 2026.</a:t>
            </a:r>
          </a:p>
          <a:p>
            <a:pPr>
              <a:spcAft>
                <a:spcPts val="1200"/>
              </a:spcAft>
              <a:defRPr sz="1250">
                <a:solidFill>
                  <a:srgbClr val="141414"/>
                </a:solidFill>
                <a:latin typeface="Aptos"/>
              </a:defRPr>
            </a:pPr>
            <a:r>
              <a:t>• [8] Explainable AI-Driven Customer Churn Prediction: A Multi-Model Ensemble Approach with SHAP-Based Feature Analysis, Frontiers in Artificial Intelligence, 2026.</a:t>
            </a:r>
          </a:p>
          <a:p>
            <a:pPr>
              <a:spcAft>
                <a:spcPts val="1200"/>
              </a:spcAft>
              <a:defRPr sz="1250">
                <a:solidFill>
                  <a:srgbClr val="141414"/>
                </a:solidFill>
                <a:latin typeface="Aptos"/>
              </a:defRPr>
            </a:pPr>
            <a:r>
              <a:t>• [9] Forecasting Online Shoppers’ Purchase Intentions Using Machine Learning and Ensemble Modeling, Springer LNICST, 2026.</a:t>
            </a:r>
          </a:p>
          <a:p>
            <a:pPr>
              <a:spcAft>
                <a:spcPts val="1200"/>
              </a:spcAft>
              <a:defRPr sz="1250">
                <a:solidFill>
                  <a:srgbClr val="141414"/>
                </a:solidFill>
                <a:latin typeface="Aptos"/>
              </a:defRPr>
            </a:pPr>
            <a:r>
              <a:t>• [10] Predicting E-Commerce Purchase Behavior Using a DQN-Inspired Deep Learning Model, 2025.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7572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4B4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B2D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9202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B2D52"/>
                </a:solidFill>
                <a:latin typeface="Aptos Display"/>
              </a:defRPr>
            </a:pPr>
            <a:r>
              <a:rPr sz="3000" b="1">
                <a:solidFill>
                  <a:srgbClr val="1B2D52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41414"/>
                </a:solidFill>
              </a:defRPr>
            </a:pPr>
            <a:r>
              <a:rPr sz="1800" b="1">
                <a:solidFill>
                  <a:srgbClr val="1B2D52"/>
                </a:solidFill>
                <a:latin typeface="Aptos"/>
              </a:rPr>
              <a:t>Methodology → Design → Implementation → Results →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8620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4B4B4B"/>
                </a:solidFill>
              </a:defRPr>
            </a:pPr>
            <a:r>
              <a:rPr sz="1600" b="0">
                <a:solidFill>
                  <a:srgbClr val="222B36"/>
                </a:solidFill>
                <a:latin typeface="Aptos"/>
              </a:rPr>
              <a:t>AI-Driven Customer Analytics → Explainable Insights → Business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73952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B4B4B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1231</Words>
  <Application>Microsoft Office PowerPoint</Application>
  <PresentationFormat>Widescreen</PresentationFormat>
  <Paragraphs>132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Divija Medha</cp:lastModifiedBy>
  <cp:revision>2</cp:revision>
  <dcterms:created xsi:type="dcterms:W3CDTF">2013-01-27T09:14:16Z</dcterms:created>
  <dcterms:modified xsi:type="dcterms:W3CDTF">2026-08-14T13:33:44Z</dcterms:modified>
  <cp:category/>
</cp:coreProperties>
</file>