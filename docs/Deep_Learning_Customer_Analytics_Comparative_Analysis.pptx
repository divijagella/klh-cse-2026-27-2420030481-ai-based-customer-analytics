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35440" y="502920"/>
            <a:ext cx="2011680" cy="2011680"/>
          </a:xfrm>
          <a:prstGeom prst="ellipse">
            <a:avLst/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234440"/>
            <a:ext cx="1143000" cy="114300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874519"/>
            <a:ext cx="640080" cy="64008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2743200"/>
            <a:ext cx="1325880" cy="1325880"/>
          </a:xfrm>
          <a:prstGeom prst="ellipse">
            <a:avLst/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3840480"/>
            <a:ext cx="822960" cy="822960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7040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DATA ANALYTICS  •  DEEP LEARNING  •  BUSINESS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7498079" cy="1572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8FF"/>
                </a:solidFill>
                <a:latin typeface="Aptos"/>
              </a:rPr>
              <a:t>Deep Learning-Driven
Customer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07792"/>
            <a:ext cx="72237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AEBCD8"/>
                </a:solidFill>
                <a:latin typeface="Aptos"/>
              </a:rPr>
              <a:t>Purchase Prediction, Segmentation
&amp; Business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96512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CUSTOMERPULSE AI  |  INTEGRATED ANALYTICS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800600"/>
            <a:ext cx="7223760" cy="10515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956048"/>
            <a:ext cx="6812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M. Pallavi  •  G. Divija Medha  •  Sheri Saswitha
2420030373  |  2420030481  |  2420090067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45352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EBCD8"/>
                </a:solidFill>
                <a:latin typeface="Aptos"/>
              </a:rPr>
              <a:t>K L (Deemed to be) University  •  Data Analytics and Visualization  •  Batch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263640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01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The Customer Intelligence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Customer data is abundant—but turning it into joined-up, predictive decisions is still difficult.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20824"/>
            <a:ext cx="50292" cy="1673351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3911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4D3DB"/>
                </a:solidFill>
                <a:latin typeface="Aptos"/>
              </a:rPr>
              <a:t>SCATTERED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230428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Demographics, transactions, spending and online-session behaviour often sit in separate datasets.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74519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2020824"/>
            <a:ext cx="50292" cy="1673351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03911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978FF"/>
                </a:solidFill>
                <a:latin typeface="Aptos"/>
              </a:rPr>
              <a:t>HIDDEN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41448"/>
            <a:ext cx="230428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Descriptive summaries may miss nonlinear relationships between browsing behaviour and purchase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874519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2020824"/>
            <a:ext cx="50292" cy="1673351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03911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0E0BE"/>
                </a:solidFill>
                <a:latin typeface="Aptos"/>
              </a:rPr>
              <a:t>SILOED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441448"/>
            <a:ext cx="230428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Segmentation, spending analysis and purchase prediction are frequently treated as separate tasks.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874519"/>
            <a:ext cx="246888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020824"/>
            <a:ext cx="50292" cy="1673351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039112"/>
            <a:ext cx="2121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C457"/>
                </a:solidFill>
                <a:latin typeface="Aptos"/>
              </a:rPr>
              <a:t>DECISION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441448"/>
            <a:ext cx="212140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Teams need clear insights they can use for targeting, engagement and retention.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97680"/>
            <a:ext cx="10863072" cy="114300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443984"/>
            <a:ext cx="832104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How can customer data be integrated to identify meaningful segments, predict purchase outcomes and present useful business intelligence in one workflow?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87044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Project response: combine exploratory analytics, K-Means segmentation, MLP purchase prediction and a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02 /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Three connected goals turn raw customer information into actionable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3456432" cy="315468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84832"/>
            <a:ext cx="50292" cy="2862072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4D3DB"/>
                </a:solidFill>
                <a:latin typeface="Aptos"/>
              </a:rPr>
              <a:t>01 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310896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• Profile demographics and spending
• Explore purchasing and browsing patterns
• Engineer useful behavioural features
• Review RFM-style customer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38528"/>
            <a:ext cx="3456432" cy="315468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84832"/>
            <a:ext cx="50292" cy="286207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9978FF"/>
                </a:solidFill>
                <a:latin typeface="Aptos"/>
              </a:rPr>
              <a:t>02  PREDICT &amp;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05456"/>
            <a:ext cx="310896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• Group customers into four segments
• Predict session-level purchase outcomes
• Evaluate model performance
• Identify customer groups for follow-up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938528"/>
            <a:ext cx="3456432" cy="315468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2084832"/>
            <a:ext cx="50292" cy="2862072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0E0BE"/>
                </a:solidFill>
                <a:latin typeface="Aptos"/>
              </a:rPr>
              <a:t>03  SUPPORT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05456"/>
            <a:ext cx="310896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• Present results in ConsumerPulse AI
• Visualize customer and spending patterns
• Surface purchase propensity insights
• Support targeted engagement and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Core idea: segmentation explains *who* customers are; prediction estimates *what they may do next*.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03 /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Prior work contributes useful techniques, but each approach answers only part of the customer analytics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47088"/>
            <a:ext cx="3063240" cy="438912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38528"/>
            <a:ext cx="28437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RESEARCH THEME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847088"/>
            <a:ext cx="3337560" cy="438912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8" y="1938528"/>
            <a:ext cx="311810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WHAT IT CONTRIBUTES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847088"/>
            <a:ext cx="3840480" cy="438912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7" y="1938528"/>
            <a:ext cx="36210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LIMITATION / OPPORTUNITY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95728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505456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Purchase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395728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3088" y="2505456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MLP / neural models learn patterns from shopping-session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395728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7" y="2505456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Prediction alone does not describe customer segments.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264408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RFM &amp; segmentation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154680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33088" y="3264408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Recency, Frequency and Monetary value help group customers by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154680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7" y="3264408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Segmentation does not directly predict the next purchase.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13632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023360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Explainable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913632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33088" y="4023360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LIME and SHAP can help interpret individual and global predictions.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913632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7" y="4023360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Explanations need to be connected to business workflows.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72583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782312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Business intelligence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4672583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3088" y="4782312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Dashboards summarize trends and help teams explore results.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4672583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4967" y="4782312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Insights can remain fragmented when analytics are not integrated.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928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457"/>
                </a:solidFill>
                <a:latin typeface="Aptos"/>
              </a:rPr>
              <a:t>Research direction: combine customer profiling, segmentation, prediction and dashboard-based interpretation.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04 /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What the Project Brings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project responds to fragmentation across data, modelling and decision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84832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12264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GAP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2066544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Fragmented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60320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Spending, customer grouping and purchase prediction are often handled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01952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84832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112264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GAP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066544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Mixed data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60320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Demographic, transaction and session features require careful preparation and feature engineering.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977640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40E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005072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0E0BE"/>
                </a:solidFill>
                <a:latin typeface="Aptos"/>
              </a:rPr>
              <a:t>GAP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3959352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Nonlinear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453128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Simple descriptive analysis may not capture complex relationships in shopping sessions.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94760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3977640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4005072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457"/>
                </a:solidFill>
                <a:latin typeface="Aptos"/>
              </a:rPr>
              <a:t>GAP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3959352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Business translation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453128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Model outputs need to be presented in a form that supports practical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97296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DB"/>
                </a:solidFill>
                <a:latin typeface="Aptos"/>
              </a:rPr>
              <a:t>Proposed direction: a shared workflow from customer data → segmentation &amp; prediction → BI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05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Datasets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Three complementary dataset types are described in the project documentation.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5394960" cy="832104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CONSUMER / RETAIL SPENDING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Customer characteristics and spending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1305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4,905 records  •  14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98648"/>
            <a:ext cx="5394960" cy="832104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978FF"/>
                </a:solidFill>
                <a:latin typeface="Aptos"/>
              </a:rPr>
              <a:t>SYNTHETIC SHOPPING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10128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Simulated customer behaviour and preferences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154680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10,000 records  •  12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922776"/>
            <a:ext cx="5394960" cy="832104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ONLINE SHOPPERS INTENTION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34256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Browsing-session behaviour and purchase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4178808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12,330 records  •  18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74519"/>
            <a:ext cx="5074920" cy="299008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084831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4D3DB"/>
                </a:solidFill>
                <a:latin typeface="Aptos"/>
              </a:rPr>
              <a:t>PREPROCESSING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78608"/>
            <a:ext cx="4526280" cy="20116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Inspect schema, data types and missing values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Remove duplicate records and correct formats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Encode categorical features where required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Create browsing, time and spending features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Explore distributions, relationships and outliers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8"/>
            <a:ext cx="10515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FFC457"/>
                </a:solidFill>
                <a:latin typeface="Aptos"/>
              </a:rPr>
              <a:t>Note: dataset names and counts are taken from the supplied documentation; confirm them against the final data files before formal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06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A single analytical pipeline connects data preparation, customer grouping, purchase prediction and business interpretation.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DATA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Spending • profiles
Online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4580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9464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15768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2344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978FF"/>
                </a:solidFill>
                <a:latin typeface="Aptos"/>
              </a:rPr>
              <a:t>PREPARE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Clean • encode
Feature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2251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40E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0E0BE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EXPLORE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EDA • patterns
Feature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9923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4807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11112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457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C457"/>
                </a:solidFill>
                <a:latin typeface="Aptos"/>
              </a:rPr>
              <a:t>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K-Means
4 customer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7596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58784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59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7BA0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BA0"/>
                </a:solidFill>
                <a:latin typeface="Aptos"/>
              </a:rPr>
              <a:t>PREDICT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MLP neural network
Purchase / no purchase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5267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60151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06455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43031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6455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PRESENT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06455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ConsumerPulse AI
BI dashboard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4800600"/>
            <a:ext cx="10241280" cy="804672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32" y="5010912"/>
            <a:ext cx="9784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OUTPUTS  •  Customer segments  •  Purchase propensity  •  Spending patterns  •  Business insights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5925312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EBCD8"/>
                </a:solidFill>
                <a:latin typeface="Aptos"/>
              </a:rPr>
              <a:t>Churn, customer lifetime value, autoencoders and SHAP/LIME are described as additional or future capabilities in the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07 /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Purchase Prediction with an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A Multi-Layer Perceptron learns relationships between session behaviour and the purchase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4754880" cy="352044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21408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4D3DB"/>
                </a:solidFill>
                <a:latin typeface="Aptos"/>
              </a:rPr>
              <a:t>MODEL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8775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Input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587752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Page views, browsing duration, bounce rate, exit rate, page value, visitor type, weekend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18104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Hidden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3118104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48 neurons → 24 neurons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648456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3648456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ReLU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7880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4178808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Adam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709160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Training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4709160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Maximum iterations: 120 • Random state: 42 • Early stopping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874519"/>
            <a:ext cx="5440680" cy="352044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121408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978FF"/>
                </a:solidFill>
                <a:latin typeface="Aptos"/>
              </a:rPr>
              <a:t>CONCEPTUAL NETWORK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880360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3922776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443984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01000" y="276148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1000" y="312724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01000" y="349300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01000" y="385876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1000" y="422452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01000" y="459028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55480" y="3108960"/>
            <a:ext cx="219456" cy="219456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3749039"/>
            <a:ext cx="219456" cy="219456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55480" y="4389120"/>
            <a:ext cx="219456" cy="219456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6711696" y="2871216"/>
            <a:ext cx="1289304" cy="11887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11696" y="2990088"/>
            <a:ext cx="1289304" cy="2468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11696" y="2990088"/>
            <a:ext cx="1289304" cy="61264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11696" y="2990088"/>
            <a:ext cx="1289304" cy="97840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11696" y="2990088"/>
            <a:ext cx="1289304" cy="13441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11696" y="2990088"/>
            <a:ext cx="1289304" cy="17099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711696" y="2871216"/>
            <a:ext cx="1289304" cy="64008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711696" y="3236976"/>
            <a:ext cx="1289304" cy="27432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11696" y="3511296"/>
            <a:ext cx="1289304" cy="9144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11696" y="3511296"/>
            <a:ext cx="1289304" cy="45720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11696" y="3511296"/>
            <a:ext cx="1289304" cy="82296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711696" y="3511296"/>
            <a:ext cx="1289304" cy="118872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711696" y="2871216"/>
            <a:ext cx="1289304" cy="11612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711696" y="3236976"/>
            <a:ext cx="1289304" cy="7955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711696" y="3602736"/>
            <a:ext cx="1289304" cy="4297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711696" y="3968496"/>
            <a:ext cx="1289304" cy="6400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711696" y="4032504"/>
            <a:ext cx="1289304" cy="30175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711696" y="4032504"/>
            <a:ext cx="1289304" cy="66751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711696" y="2871216"/>
            <a:ext cx="1289304" cy="168249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711696" y="3236976"/>
            <a:ext cx="1289304" cy="131673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711696" y="3602736"/>
            <a:ext cx="1289304" cy="95097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711696" y="3968496"/>
            <a:ext cx="1289304" cy="58521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11696" y="4334256"/>
            <a:ext cx="1289304" cy="21945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11696" y="4553712"/>
            <a:ext cx="1289304" cy="146304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220456" y="2871216"/>
            <a:ext cx="1335024" cy="34747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220456" y="2871216"/>
            <a:ext cx="1335024" cy="98755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220456" y="2871216"/>
            <a:ext cx="1335024" cy="162763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220456" y="3218688"/>
            <a:ext cx="1335024" cy="182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220456" y="3236976"/>
            <a:ext cx="1335024" cy="62179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20456" y="3236976"/>
            <a:ext cx="1335024" cy="126187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220456" y="3218688"/>
            <a:ext cx="1335024" cy="38404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220456" y="3602736"/>
            <a:ext cx="1335024" cy="25603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20456" y="3602736"/>
            <a:ext cx="1335024" cy="89611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220456" y="3218688"/>
            <a:ext cx="1335024" cy="74980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220456" y="3858768"/>
            <a:ext cx="1335024" cy="1097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220456" y="3968496"/>
            <a:ext cx="1335024" cy="53035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220456" y="3218688"/>
            <a:ext cx="1335024" cy="11155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220456" y="3858768"/>
            <a:ext cx="1335024" cy="4754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220456" y="4334256"/>
            <a:ext cx="1335024" cy="16459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220456" y="3218688"/>
            <a:ext cx="1335024" cy="14813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220456" y="3858768"/>
            <a:ext cx="1335024" cy="84124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220456" y="4498848"/>
            <a:ext cx="1335024" cy="2011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172200" y="4983480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INPUT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4983480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48 → 24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89720" y="498348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0E0BE"/>
                </a:solidFill>
                <a:latin typeface="Aptos"/>
              </a:rPr>
              <a:t>OUTPUT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" y="5742432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Target: classify a shopping session as purchase or no purchase.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08 / 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K-Means: Four Customer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Customers are clustered using demographic, spending, satisfaction and loyalty characteristics.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057400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39112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DB"/>
                </a:solidFill>
                <a:latin typeface="Aptos"/>
              </a:rPr>
              <a:t>HIGH-VALUE /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0487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Higher spending and stronger engagement; nurture loyalty.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874519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1" y="2057400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2084831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39112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978FF"/>
                </a:solidFill>
                <a:latin typeface="Aptos"/>
              </a:rPr>
              <a:t>POTENTIAL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40487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Moderate activity; targeted offers may encourage repeat purchases.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47287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3630168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599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45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611879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457"/>
                </a:solidFill>
                <a:latin typeface="Aptos"/>
              </a:rPr>
              <a:t>LOW-ENGAGEMENT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977639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Lower activity or satisfaction; investigate barriers and improve experience.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447287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3951" y="3630168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7" y="3657599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7BA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611879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7BA0"/>
                </a:solidFill>
                <a:latin typeface="Aptos"/>
              </a:rPr>
              <a:t>AT-RISK / INACTIVE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977639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Limited engagement; consider retention-oriented outreach.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257800"/>
            <a:ext cx="10698480" cy="530352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04104"/>
            <a:ext cx="10332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FFC457"/>
                </a:solidFill>
                <a:latin typeface="Aptos"/>
              </a:rPr>
              <a:t>Segments are conceptual business labels; validate their final meaning against the actual cluster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09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Reported Purchase Prediction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research paper reports validation performance for the MLP purchase-intention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29968"/>
            <a:ext cx="4526280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04288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4D3DB"/>
                </a:solidFill>
                <a:latin typeface="Aptos"/>
              </a:rPr>
              <a:t>VALIDATION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97480"/>
            <a:ext cx="3931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5F8FF"/>
                </a:solidFill>
                <a:latin typeface="Aptos"/>
              </a:rPr>
              <a:t>89.55%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56432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Correct classifications on validation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29968"/>
            <a:ext cx="4526280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304288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9978FF"/>
                </a:solidFill>
                <a:latin typeface="Aptos"/>
              </a:rPr>
              <a:t>ROC–AUC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97480"/>
            <a:ext cx="3931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5F8FF"/>
                </a:solidFill>
                <a:latin typeface="Aptos"/>
              </a:rPr>
              <a:t>92.34%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56432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Reported ability to separate the two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07408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90288"/>
            <a:ext cx="9601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Interpretation: the reported scores are promising, but independent testing, class-wise metrics and validation on additional datasets are needed before real-world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EBCD8"/>
                </a:solidFill>
                <a:latin typeface="Aptos"/>
              </a:rPr>
              <a:t>Source: supplied research paper and project documentation. These are reported results, not independently re-run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10 / BUSINESS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ConsumerPulse AI: From Model Output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prototype dashboard brings customer profiles, spending patterns, segments and purchase predictions into one 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6675120" cy="388620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6126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CONSUMERPULSE AI  /  CUSTOMER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487168"/>
            <a:ext cx="1755648" cy="71323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34D3DB"/>
                </a:solidFill>
                <a:latin typeface="Aptos"/>
              </a:rPr>
              <a:t>12.3K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487168"/>
            <a:ext cx="1755648" cy="71323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58775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16352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9978FF"/>
                </a:solidFill>
                <a:latin typeface="Apto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487168"/>
            <a:ext cx="1755648" cy="71323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258775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816352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40E0BE"/>
                </a:solidFill>
                <a:latin typeface="Aptos"/>
              </a:rPr>
              <a:t>MLP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93008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BCD8"/>
                </a:solidFill>
                <a:latin typeface="Aptos"/>
              </a:rPr>
              <a:t>CUSTOMER SEGMENT MIX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526280"/>
            <a:ext cx="310896" cy="731520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27631" y="4206240"/>
            <a:ext cx="310896" cy="1051560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57984" y="4663440"/>
            <a:ext cx="310896" cy="59436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8335" y="3931920"/>
            <a:ext cx="310896" cy="1325880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493008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BCD8"/>
                </a:solidFill>
                <a:latin typeface="Aptos"/>
              </a:rPr>
              <a:t>PURCHASE PROPENSITY TREND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794760" y="4663440"/>
            <a:ext cx="594360" cy="320040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89120" y="4663440"/>
            <a:ext cx="594360" cy="109728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983480" y="4251960"/>
            <a:ext cx="594360" cy="521208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77840" y="3977639"/>
            <a:ext cx="594360" cy="274321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72200" y="3977639"/>
            <a:ext cx="548640" cy="155448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749040" y="493776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3400" y="461772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37760" y="4727448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32120" y="420624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26480" y="393192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0" y="4087368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413248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AEBCD8"/>
                </a:solidFill>
                <a:latin typeface="Aptos"/>
              </a:rPr>
              <a:t>Illustrative dashboard layout — not a screenshot or measured live output.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1874519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26679" y="2020824"/>
            <a:ext cx="50292" cy="731520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7848" y="2039112"/>
            <a:ext cx="3264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4D3DB"/>
                </a:solidFill>
                <a:latin typeface="Aptos"/>
              </a:rPr>
              <a:t>UNDERSTAND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7848" y="2441448"/>
            <a:ext cx="32644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Profile spending and customer behaviour.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3090672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26679" y="3236976"/>
            <a:ext cx="50292" cy="731520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27848" y="3255264"/>
            <a:ext cx="3264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9978FF"/>
                </a:solidFill>
                <a:latin typeface="Aptos"/>
              </a:rPr>
              <a:t>TARGET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7848" y="3657600"/>
            <a:ext cx="32644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Tailor campaigns to meaningful segments.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4306824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26679" y="4453128"/>
            <a:ext cx="50292" cy="731520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7848" y="4471416"/>
            <a:ext cx="3264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0E0BE"/>
                </a:solidFill>
                <a:latin typeface="Aptos"/>
              </a:rPr>
              <a:t>RETAIN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7848" y="4873752"/>
            <a:ext cx="32644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Use engagement signals to guide follow-up.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623560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EBCD8"/>
                </a:solidFill>
                <a:latin typeface="Aptos"/>
              </a:rPr>
              <a:t>Decision support—not a replacement for business judgment.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11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Technology Stack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framework is designed to run on commonly available tools and standard computing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48256"/>
            <a:ext cx="50292" cy="2130552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66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4D3DB"/>
                </a:solidFill>
                <a:latin typeface="Aptos"/>
              </a:rPr>
              <a:t>DATA &amp;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3081528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Python
Pandas • NumPy
Matplotlib
CSV / Excel 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01952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48256"/>
            <a:ext cx="50292" cy="213055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66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978FF"/>
                </a:solidFill>
                <a:latin typeface="Aptos"/>
              </a:rPr>
              <a:t>MODELLING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081528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Scikit-learn
MLP neural network
K-Means clustering
Jupyter / Google Colab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901952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048256"/>
            <a:ext cx="50292" cy="2130552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066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0E0BE"/>
                </a:solidFill>
                <a:latin typeface="Aptos"/>
              </a:rPr>
              <a:t>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468880"/>
            <a:ext cx="3081528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Streamlit dashboard
Interactive visualizations
Customer profiles
Business insights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681728"/>
            <a:ext cx="10652760" cy="86868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82896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28032"/>
            <a:ext cx="8229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Intel Core or equivalent  •  8 GB RAM recommended  •  10 GB free storage  •  GPU optional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24728"/>
            <a:ext cx="10332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Open-source libraries and standard hardware make the prototype technically and economically feasible.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12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current project focuses on K-Means segmentation, MLP purchase prediction and dashboard-based insight.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01952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048256"/>
            <a:ext cx="50292" cy="1216151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66544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4D3DB"/>
                </a:solidFill>
                <a:latin typeface="Aptos"/>
              </a:rPr>
              <a:t>VALIDATE MORE BROADLY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468880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Test on independent datasets; document data splits, class balance and additional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01952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48256"/>
            <a:ext cx="50292" cy="1216151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66544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978FF"/>
                </a:solidFill>
                <a:latin typeface="Aptos"/>
              </a:rPr>
              <a:t>IMPROVE INTERPRETABILITY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Integrate SHAP/LIME explanations after verifying implementation and model compatibility.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03320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849624"/>
            <a:ext cx="50292" cy="1216151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867911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0E0BE"/>
                </a:solidFill>
                <a:latin typeface="Aptos"/>
              </a:rPr>
              <a:t>EXPAND MODELLING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270248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Explore sequence-based models such as LSTM or transformers where ordered session data is available.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703320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849624"/>
            <a:ext cx="50292" cy="1216151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67911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C457"/>
                </a:solidFill>
                <a:latin typeface="Aptos"/>
              </a:rPr>
              <a:t>EXTEND CUSTOMER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Validate churn prediction, CLV estimation and autoencoder-based analysis as future modules.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EBCD8"/>
                </a:solidFill>
                <a:latin typeface="Aptos"/>
              </a:rPr>
              <a:t>Important: these extensions are future directions in the supplied documentation, not claimed as completed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13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From Customer Data to Better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An integrated workflow helps connect customer understanding with predictive signals and business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4D3DB"/>
                </a:solidFill>
                <a:latin typeface="Aptos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Customer and spending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984" y="235000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978FF"/>
                </a:solidFill>
                <a:latin typeface="Aptos"/>
              </a:rPr>
              <a:t>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Four K-Means customer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35000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0E0BE"/>
                </a:solidFill>
                <a:latin typeface="Aptos"/>
              </a:rP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MLP purchase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35000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72015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3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C457"/>
                </a:solidFill>
                <a:latin typeface="Aptos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Dashboard-supported insights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547872"/>
            <a:ext cx="10652760" cy="196596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767328"/>
            <a:ext cx="4663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KEY REPORTED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96512"/>
            <a:ext cx="46634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89.55% validation accuracy  •  92.34% 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767328"/>
            <a:ext cx="4937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978FF"/>
                </a:solidFill>
                <a:latin typeface="Aptos"/>
              </a:rPr>
              <a:t>REFERENCES / BASIS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096512"/>
            <a:ext cx="4892040" cy="11430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F5F8FF"/>
                </a:solidFill>
                <a:latin typeface="Aptos"/>
              </a:defRPr>
            </a:pPr>
            <a:r>
              <a:t>•  Supplied research paper: Deep Learning-Driven Customer Analytics</a:t>
            </a:r>
          </a:p>
          <a:p>
            <a:pPr>
              <a:spcAft>
                <a:spcPts val="500"/>
              </a:spcAft>
              <a:defRPr sz="1000">
                <a:solidFill>
                  <a:srgbClr val="F5F8FF"/>
                </a:solidFill>
                <a:latin typeface="Aptos"/>
              </a:defRPr>
            </a:pPr>
            <a:r>
              <a:t>•  Supplied project documentation, Sections 3–7</a:t>
            </a:r>
          </a:p>
          <a:p>
            <a:pPr>
              <a:spcAft>
                <a:spcPts val="500"/>
              </a:spcAft>
              <a:defRPr sz="1000">
                <a:solidFill>
                  <a:srgbClr val="F5F8FF"/>
                </a:solidFill>
                <a:latin typeface="Aptos"/>
              </a:defRPr>
            </a:pPr>
            <a:r>
              <a:t>•  Key related work cited in the report: Sakar et al.; Ribeiro et al.; Lundberg &amp; 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989320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34D3DB"/>
                </a:solidFill>
                <a:latin typeface="Aptos"/>
              </a:rPr>
              <a:t>Thank you  •  Questions &amp; Discussion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685800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14 / COMPARATIVE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Deep Learning Models —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Values transcribed from the comparative-analysis image supplied for this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7276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0972800" cy="434340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493776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7CDD3"/>
                </a:solidFill>
                <a:latin typeface="Aptos"/>
              </a:rPr>
              <a:t>CUSTOMER PURCHASE &amp; SEGMENTATION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677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40280"/>
            <a:ext cx="132588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8FAFC"/>
                </a:solidFill>
                <a:latin typeface="Apto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2677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240280"/>
            <a:ext cx="132588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8FAFC"/>
                </a:solidFill>
                <a:latin typeface="Aptos"/>
              </a:rPr>
              <a:t>F1-score (Macro)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2677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2240280"/>
            <a:ext cx="132588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8FAFC"/>
                </a:solidFill>
                <a:latin typeface="Aptos"/>
              </a:rPr>
              <a:t>AUC-ROC (Macro)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2677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240280"/>
            <a:ext cx="132588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8FAFC"/>
                </a:solidFill>
                <a:latin typeface="Aptos"/>
              </a:rPr>
              <a:t>Silhouette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5212079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20640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727448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636008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242816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51376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3758183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666744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3273551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182111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2788920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697479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15212" y="3096661"/>
            <a:ext cx="219456" cy="2115418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4628" y="2895493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0.873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66672" y="3125739"/>
            <a:ext cx="219456" cy="2086340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6088" y="2924571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0.861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18132" y="3028812"/>
            <a:ext cx="219456" cy="2183267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7548" y="282764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69592" y="4213738"/>
            <a:ext cx="219456" cy="998341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9008" y="401257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89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MLP
(Multi-Layer Perceptron)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6372" y="3028812"/>
            <a:ext cx="219456" cy="2183267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5788" y="282764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7832" y="3045774"/>
            <a:ext cx="219456" cy="2166305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7248" y="2844606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0.894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9292" y="2927040"/>
            <a:ext cx="219456" cy="2285039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78708" y="2725872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0.943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30752" y="4102272"/>
            <a:ext cx="219456" cy="1109807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0168" y="390110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0.458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205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TabNet
(Attention-based)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37532" y="3048198"/>
            <a:ext cx="219456" cy="2163881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36948" y="284703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0.893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88992" y="3067583"/>
            <a:ext cx="219456" cy="2144496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88408" y="2866415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0.885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40452" y="2944002"/>
            <a:ext cx="219456" cy="2268077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9868" y="274283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0.936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1912" y="4167698"/>
            <a:ext cx="219456" cy="1044381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91328" y="396653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0.431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321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Wide &amp; Deep
(Hybrid)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98692" y="3164509"/>
            <a:ext cx="219456" cy="2047570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8108" y="2963341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50152" y="3196010"/>
            <a:ext cx="219456" cy="2016069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9568" y="2994842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1612" y="3011850"/>
            <a:ext cx="219456" cy="2200229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01028" y="2810682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3072" y="3949613"/>
            <a:ext cx="219456" cy="1262466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52488" y="3748445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0.521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2437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Autoencoder
+ K-Means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9852" y="3108777"/>
            <a:ext cx="219456" cy="2103302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59268" y="2907609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0.868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11312" y="3140278"/>
            <a:ext cx="219456" cy="2071801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0728" y="293911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0.855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62772" y="2994888"/>
            <a:ext cx="219456" cy="2217191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2188" y="279372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0.915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14232" y="4247662"/>
            <a:ext cx="219456" cy="964417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13648" y="404649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0.398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553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LSTM
(Sequence)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21012" y="3002158"/>
            <a:ext cx="219456" cy="2209921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20428" y="280099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2472" y="3019120"/>
            <a:ext cx="219456" cy="2192959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71888" y="2817952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0.905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23932" y="2914924"/>
            <a:ext cx="219456" cy="2297155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23348" y="2713756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0.948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75392" y="4080464"/>
            <a:ext cx="219456" cy="1131615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74808" y="3879296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0.467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4669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FT-Transformer
(Tabular Transformer)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" y="5870448"/>
            <a:ext cx="1033272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84D"/>
                </a:solidFill>
                <a:latin typeface="Aptos"/>
              </a:rPr>
              <a:t>Interpretation: FT-Transformer has the highest accuracy and AUC-ROC in the supplied comparison; Autoencoder + K-Means has the highest silhouette score.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685800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14 / COMPARATIVE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Training Efficiency Across Model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The source image reports training-performance scores on a 1 − loss scale; higher is better.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7276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0881360" cy="416052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54864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7CDD3"/>
                </a:solidFill>
                <a:latin typeface="Aptos"/>
              </a:rPr>
              <a:t>TRAINING PERFORMANCE (1 − LOSS)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MLP
(Multi-Layer Perceptron)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633472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2633472"/>
            <a:ext cx="4875580" cy="228600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2052" y="2578608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0.688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TabNet
(Attention-based)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3118104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3118104"/>
            <a:ext cx="5378729" cy="228600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5201" y="3063240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0.759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02152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Wide &amp; Deep
(Hybrid)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3602736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03320" y="3602736"/>
            <a:ext cx="5187391" cy="22860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3863" y="3547872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0.732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86783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Autoencoder
+ K-Means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4087368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4087368"/>
            <a:ext cx="4358259" cy="228600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4731" y="4032503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0.615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71416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LSTM
(Sequence)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4572000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03320" y="4572000"/>
            <a:ext cx="4974793" cy="228600"/>
          </a:xfrm>
          <a:prstGeom prst="rect">
            <a:avLst/>
          </a:prstGeom>
          <a:solidFill>
            <a:srgbClr val="4C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1265" y="4517136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0.702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FT-Transformer
(Tabular Transformer)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5056632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03320" y="5056632"/>
            <a:ext cx="5470855" cy="228600"/>
          </a:xfrm>
          <a:prstGeom prst="rect">
            <a:avLst/>
          </a:prstGeom>
          <a:solidFill>
            <a:srgbClr val="48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7327" y="5001768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0.772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8727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532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1.0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925312"/>
            <a:ext cx="1042416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84D"/>
                </a:solidFill>
                <a:latin typeface="Aptos"/>
              </a:rPr>
              <a:t>FT-Transformer (0.772) and TabNet (0.759) lead this reported efficiency comparison. These values are reproduced from the supplied image and were not independently verified.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685800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15 /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What the Comparison Suggests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A practical reading of the provided comparison—useful for discussion, not a substitute for controlled benchmarking.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7276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057400"/>
            <a:ext cx="73152" cy="841248"/>
          </a:xfrm>
          <a:prstGeom prst="roundRect">
            <a:avLst>
              <a:gd name="adj" fmla="val 8000"/>
            </a:avLst>
          </a:prstGeom>
          <a:solidFill>
            <a:srgbClr val="48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20824"/>
            <a:ext cx="452628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8C39A"/>
                </a:solidFill>
                <a:latin typeface="Aptos"/>
              </a:rPr>
              <a:t>BEST REPORTED CLASSIFICATION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50008"/>
            <a:ext cx="452628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FT-Transformer leads on accuracy (0.912) and AUC-ROC (0.948) in the supplied chart.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8231" y="2057400"/>
            <a:ext cx="73152" cy="841248"/>
          </a:xfrm>
          <a:prstGeom prst="roundRect">
            <a:avLst>
              <a:gd name="adj" fmla="val 8000"/>
            </a:avLst>
          </a:prstGeom>
          <a:solidFill>
            <a:srgbClr val="A9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20824"/>
            <a:ext cx="452628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98CFF"/>
                </a:solidFill>
                <a:latin typeface="Aptos"/>
              </a:rPr>
              <a:t>STRONG ALTERNATIVE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50008"/>
            <a:ext cx="452628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TabNet reports 0.901 accuracy, 0.894 macro F1 and 0.943 AUC-ROC.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7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566160"/>
            <a:ext cx="73152" cy="841248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29584"/>
            <a:ext cx="452628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84D"/>
                </a:solidFill>
                <a:latin typeface="Aptos"/>
              </a:rPr>
              <a:t>SEGMENTATION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58768"/>
            <a:ext cx="452628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Autoencoder + K-Means has the strongest silhouette score (0.521) among the compared methods.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8327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28231" y="3566160"/>
            <a:ext cx="73152" cy="841248"/>
          </a:xfrm>
          <a:prstGeom prst="roundRect">
            <a:avLst>
              <a:gd name="adj" fmla="val 8000"/>
            </a:avLst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529584"/>
            <a:ext cx="452628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7060"/>
                </a:solidFill>
                <a:latin typeface="Aptos"/>
              </a:rPr>
              <a:t>TRAINING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858768"/>
            <a:ext cx="452628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FT-Transformer (0.772) and TabNet (0.759) are highest on the supplied 1 − loss comparison.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16636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22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21808"/>
            <a:ext cx="1024128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ptos"/>
              </a:rPr>
              <a:t>Important: the original project documentation reports MLP validation accuracy of 89.55% and ROC-AUC of 92.34%. The new chart contains a separate model comparison supplied as an image; keep the two result sources distinct.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53328"/>
            <a:ext cx="1024128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4C2D0"/>
                </a:solidFill>
                <a:latin typeface="Aptos"/>
              </a:rPr>
              <a:t>For a fair comparison, verify identical datasets, splits, preprocessing, evaluation metrics and hardware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