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235440" y="502920"/>
            <a:ext cx="2011680" cy="2011680"/>
          </a:xfrm>
          <a:prstGeom prst="ellipse">
            <a:avLst/>
          </a:prstGeom>
          <a:solidFill>
            <a:srgbClr val="1E2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234440"/>
            <a:ext cx="1143000" cy="1143000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1874519"/>
            <a:ext cx="640080" cy="640080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2743200"/>
            <a:ext cx="1325880" cy="1325880"/>
          </a:xfrm>
          <a:prstGeom prst="ellipse">
            <a:avLst/>
          </a:prstGeom>
          <a:solidFill>
            <a:srgbClr val="1E2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3840480"/>
            <a:ext cx="822960" cy="822960"/>
          </a:xfrm>
          <a:prstGeom prst="ellipse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7040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4D3DB"/>
                </a:solidFill>
                <a:latin typeface="Aptos"/>
              </a:rPr>
              <a:t>DATA ANALYTICS  •  DEEP LEARNING  •  BUSINESS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7498079" cy="1572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5F8FF"/>
                </a:solidFill>
                <a:latin typeface="Aptos"/>
              </a:rPr>
              <a:t>Deep Learning-Driven
Customer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907792"/>
            <a:ext cx="722376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AEBCD8"/>
                </a:solidFill>
                <a:latin typeface="Aptos"/>
              </a:rPr>
              <a:t>Purchase Prediction, Segmentation
&amp; Business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96512"/>
            <a:ext cx="7132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0E0BE"/>
                </a:solidFill>
                <a:latin typeface="Aptos"/>
              </a:rPr>
              <a:t>CUSTOMERPULSE AI  |  INTEGRATED ANALYTICS 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800600"/>
            <a:ext cx="7223760" cy="10515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956048"/>
            <a:ext cx="68122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Aptos"/>
              </a:rPr>
              <a:t>M. Pallavi  •  G. Divija Medha  •  Sheri Saswitha
2420030373  |  2420030481  |  2420090067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45352"/>
            <a:ext cx="7772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EBCD8"/>
                </a:solidFill>
                <a:latin typeface="Aptos"/>
              </a:rPr>
              <a:t>K L (Deemed to be) University  •  Data Analytics and Visualization  •  Batch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263640"/>
            <a:ext cx="1234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01 /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The Customer Intelligence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Customer data is abundant—but turning it into joined-up, predictive decisions is still difficult.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2651760" cy="19659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20824"/>
            <a:ext cx="50292" cy="1673351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39112"/>
            <a:ext cx="23042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4D3DB"/>
                </a:solidFill>
                <a:latin typeface="Aptos"/>
              </a:rPr>
              <a:t>SCATTERED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41448"/>
            <a:ext cx="2304288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F8FF"/>
                </a:solidFill>
                <a:latin typeface="Aptos"/>
              </a:rPr>
              <a:t>Demographics, transactions, spending and online-session behaviour often sit in separate datasets.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874519"/>
            <a:ext cx="2651760" cy="19659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6432" y="2020824"/>
            <a:ext cx="50292" cy="1673351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039112"/>
            <a:ext cx="23042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9978FF"/>
                </a:solidFill>
                <a:latin typeface="Aptos"/>
              </a:rPr>
              <a:t>HIDDEN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441448"/>
            <a:ext cx="2304288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F8FF"/>
                </a:solidFill>
                <a:latin typeface="Aptos"/>
              </a:rPr>
              <a:t>Descriptive summaries may miss nonlinear relationships between browsing behaviour and purchase outcomes.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1874519"/>
            <a:ext cx="2651760" cy="19659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2020824"/>
            <a:ext cx="50292" cy="1673351"/>
          </a:xfrm>
          <a:prstGeom prst="rect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039112"/>
            <a:ext cx="23042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0E0BE"/>
                </a:solidFill>
                <a:latin typeface="Aptos"/>
              </a:rPr>
              <a:t>SILOED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441448"/>
            <a:ext cx="2304288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F8FF"/>
                </a:solidFill>
                <a:latin typeface="Aptos"/>
              </a:rPr>
              <a:t>Segmentation, spending analysis and purchase prediction are frequently treated as separate tasks.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874519"/>
            <a:ext cx="2468880" cy="19659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2020824"/>
            <a:ext cx="50292" cy="1673351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2039112"/>
            <a:ext cx="21214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C457"/>
                </a:solidFill>
                <a:latin typeface="Aptos"/>
              </a:rPr>
              <a:t>DECISION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441448"/>
            <a:ext cx="2121408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Teams need clear insights they can use for targeting, engagement and retention.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97680"/>
            <a:ext cx="10863072" cy="1143000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498848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4D3DB"/>
                </a:solidFill>
                <a:latin typeface="Aptos"/>
              </a:rPr>
              <a:t>PROBLEM STATEMENT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443984"/>
            <a:ext cx="8321040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5F8FF"/>
                </a:solidFill>
                <a:latin typeface="Aptos"/>
              </a:rPr>
              <a:t>How can customer data be integrated to identify meaningful segments, predict purchase outcomes and present useful business intelligence in one workflow?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870448"/>
            <a:ext cx="10789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Project response: combine exploratory analytics, K-Means segmentation, MLP purchase prediction and a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02 /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Three connected goals turn raw customer information into actionable intelligence.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38528"/>
            <a:ext cx="3456432" cy="315468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84832"/>
            <a:ext cx="50292" cy="2862072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34D3DB"/>
                </a:solidFill>
                <a:latin typeface="Aptos"/>
              </a:rPr>
              <a:t>01  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05456"/>
            <a:ext cx="3108960" cy="2468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5F8FF"/>
                </a:solidFill>
                <a:latin typeface="Aptos"/>
              </a:rPr>
              <a:t>• Profile demographics and spending
• Explore purchasing and browsing patterns
• Engineer useful behavioural features
• Review RFM-style customer activity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938528"/>
            <a:ext cx="3456432" cy="315468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084832"/>
            <a:ext cx="50292" cy="2862072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9978FF"/>
                </a:solidFill>
                <a:latin typeface="Aptos"/>
              </a:rPr>
              <a:t>02  PREDICT &amp; SEGMENT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05456"/>
            <a:ext cx="3108960" cy="2468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5F8FF"/>
                </a:solidFill>
                <a:latin typeface="Aptos"/>
              </a:rPr>
              <a:t>• Group customers into four segments
• Predict session-level purchase outcomes
• Evaluate model performance
• Identify customer groups for follow-up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938528"/>
            <a:ext cx="3456432" cy="315468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431" y="2084832"/>
            <a:ext cx="50292" cy="2862072"/>
          </a:xfrm>
          <a:prstGeom prst="rect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0E0BE"/>
                </a:solidFill>
                <a:latin typeface="Aptos"/>
              </a:rPr>
              <a:t>03  SUPPORT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05456"/>
            <a:ext cx="3108960" cy="2468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5F8FF"/>
                </a:solidFill>
                <a:latin typeface="Aptos"/>
              </a:rPr>
              <a:t>• Present results in ConsumerPulse AI
• Visualize customer and spending patterns
• Surface purchase propensity insights
• Support targeted engagement and marketing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23560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8FF"/>
                </a:solidFill>
                <a:latin typeface="Aptos"/>
              </a:rPr>
              <a:t>Core idea: segmentation explains *who* customers are; prediction estimates *what they may do next*.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03 / 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Prior work contributes useful techniques, but each approach answers only part of the customer analytics problem.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47088"/>
            <a:ext cx="3063240" cy="438912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38528"/>
            <a:ext cx="284378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RESEARCH THEME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1847088"/>
            <a:ext cx="3337560" cy="438912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33088" y="1938528"/>
            <a:ext cx="311810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WHAT IT CONTRIBUTES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847088"/>
            <a:ext cx="3840480" cy="438912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7" y="1938528"/>
            <a:ext cx="362102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LIMITATION / OPPORTUNITY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395728"/>
            <a:ext cx="3063240" cy="65836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505456"/>
            <a:ext cx="284378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0E0BE"/>
                </a:solidFill>
                <a:latin typeface="Aptos"/>
              </a:rPr>
              <a:t>Purchase prediction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2395728"/>
            <a:ext cx="3337560" cy="65836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33088" y="2505456"/>
            <a:ext cx="311810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MLP / neural models learn patterns from shopping-session features.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2395728"/>
            <a:ext cx="3840480" cy="65836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44967" y="2505456"/>
            <a:ext cx="362102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Prediction alone does not describe customer segments.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154680"/>
            <a:ext cx="3063240" cy="658368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264408"/>
            <a:ext cx="284378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0E0BE"/>
                </a:solidFill>
                <a:latin typeface="Aptos"/>
              </a:rPr>
              <a:t>RFM &amp; segmentation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3154680"/>
            <a:ext cx="3337560" cy="658368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33088" y="3264408"/>
            <a:ext cx="311810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Recency, Frequency and Monetary value help group customers by activity.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3154680"/>
            <a:ext cx="3840480" cy="658368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4967" y="3264408"/>
            <a:ext cx="362102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Segmentation does not directly predict the next purchase.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913632"/>
            <a:ext cx="3063240" cy="65836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4023360"/>
            <a:ext cx="284378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0E0BE"/>
                </a:solidFill>
                <a:latin typeface="Aptos"/>
              </a:rPr>
              <a:t>Explainable 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3913632"/>
            <a:ext cx="3337560" cy="65836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33088" y="4023360"/>
            <a:ext cx="311810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LIME and SHAP can help interpret individual and global predictions.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3913632"/>
            <a:ext cx="3840480" cy="65836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44967" y="4023360"/>
            <a:ext cx="362102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Explanations need to be connected to business workflows.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672583"/>
            <a:ext cx="3063240" cy="658368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782312"/>
            <a:ext cx="284378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0E0BE"/>
                </a:solidFill>
                <a:latin typeface="Aptos"/>
              </a:rPr>
              <a:t>Business intelligence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23360" y="4672583"/>
            <a:ext cx="3337560" cy="658368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3088" y="4782312"/>
            <a:ext cx="311810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Dashboards summarize trends and help teams explore results.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35240" y="4672583"/>
            <a:ext cx="3840480" cy="658368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44967" y="4782312"/>
            <a:ext cx="362102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Insights can remain fragmented when analytics are not integrated.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669280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C457"/>
                </a:solidFill>
                <a:latin typeface="Aptos"/>
              </a:rPr>
              <a:t>Research direction: combine customer profiling, segmentation, prediction and dashboard-based interpretation.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04 /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What the Project Brings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The project responds to fragmentation across data, modelling and decision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01952"/>
            <a:ext cx="5166360" cy="149047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084832"/>
            <a:ext cx="960120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112264"/>
            <a:ext cx="8869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GAP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7" y="2066544"/>
            <a:ext cx="3611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Fragmented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60320"/>
            <a:ext cx="4681728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CD8"/>
                </a:solidFill>
                <a:latin typeface="Aptos"/>
              </a:rPr>
              <a:t>Spending, customer grouping and purchase prediction are often handled separately.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01952"/>
            <a:ext cx="5166360" cy="149047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2084832"/>
            <a:ext cx="960120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9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112264"/>
            <a:ext cx="8869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9978FF"/>
                </a:solidFill>
                <a:latin typeface="Aptos"/>
              </a:rPr>
              <a:t>GAP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2088" y="2066544"/>
            <a:ext cx="3611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Mixed data 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560320"/>
            <a:ext cx="4681728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CD8"/>
                </a:solidFill>
                <a:latin typeface="Aptos"/>
              </a:rPr>
              <a:t>Demographic, transaction and session features require careful preparation and feature engineering.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94760"/>
            <a:ext cx="5166360" cy="149047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977640"/>
            <a:ext cx="960120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40E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005072"/>
            <a:ext cx="8869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0E0BE"/>
                </a:solidFill>
                <a:latin typeface="Aptos"/>
              </a:rPr>
              <a:t>GAP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7" y="3959352"/>
            <a:ext cx="3611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Nonlinear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453128"/>
            <a:ext cx="4681728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CD8"/>
                </a:solidFill>
                <a:latin typeface="Aptos"/>
              </a:rPr>
              <a:t>Simple descriptive analysis may not capture complex relationships in shopping sessions.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794760"/>
            <a:ext cx="5166360" cy="149047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46520" y="3977640"/>
            <a:ext cx="960120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4005072"/>
            <a:ext cx="8869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C457"/>
                </a:solidFill>
                <a:latin typeface="Aptos"/>
              </a:rPr>
              <a:t>GAP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2088" y="3959352"/>
            <a:ext cx="3611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Business translation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7" y="4453128"/>
            <a:ext cx="4681728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CD8"/>
                </a:solidFill>
                <a:latin typeface="Aptos"/>
              </a:rPr>
              <a:t>Model outputs need to be presented in a form that supports practical decisions.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797296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4D3DB"/>
                </a:solidFill>
                <a:latin typeface="Aptos"/>
              </a:rPr>
              <a:t>Proposed direction: a shared workflow from customer data → segmentation &amp; prediction → BI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05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Datasets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Three complementary dataset types are described in the project documentation.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74519"/>
            <a:ext cx="5394960" cy="832104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3337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4D3DB"/>
                </a:solidFill>
                <a:latin typeface="Aptos"/>
              </a:rPr>
              <a:t>CONSUMER / RETAIL SPENDING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3337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EBCD8"/>
                </a:solidFill>
                <a:latin typeface="Aptos"/>
              </a:rPr>
              <a:t>Customer characteristics and spending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2130552"/>
            <a:ext cx="1572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4,905 records  •  14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898648"/>
            <a:ext cx="5394960" cy="832104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08376"/>
            <a:ext cx="3337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9978FF"/>
                </a:solidFill>
                <a:latin typeface="Aptos"/>
              </a:rPr>
              <a:t>SYNTHETIC SHOPPING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10128"/>
            <a:ext cx="3337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EBCD8"/>
                </a:solidFill>
                <a:latin typeface="Aptos"/>
              </a:rPr>
              <a:t>Simulated customer behaviour and preferences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3154680"/>
            <a:ext cx="1572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10,000 records  •  12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922776"/>
            <a:ext cx="5394960" cy="832104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32504"/>
            <a:ext cx="3337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0E0BE"/>
                </a:solidFill>
                <a:latin typeface="Aptos"/>
              </a:rPr>
              <a:t>ONLINE SHOPPERS INTENTION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34256"/>
            <a:ext cx="3337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EBCD8"/>
                </a:solidFill>
                <a:latin typeface="Aptos"/>
              </a:rPr>
              <a:t>Browsing-session behaviour and purchase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4178808"/>
            <a:ext cx="1572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12,330 records  •  18 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874519"/>
            <a:ext cx="5074920" cy="2990088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2084831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4D3DB"/>
                </a:solidFill>
                <a:latin typeface="Aptos"/>
              </a:rPr>
              <a:t>PREPROCESSING CHECKLIST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578608"/>
            <a:ext cx="4526280" cy="20116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8FF"/>
                </a:solidFill>
                <a:latin typeface="Aptos"/>
              </a:defRPr>
            </a:pPr>
            <a:r>
              <a:t>•  Inspect schema, data types and missing values</a:t>
            </a:r>
          </a:p>
          <a:p>
            <a:pPr>
              <a:spcAft>
                <a:spcPts val="800"/>
              </a:spcAft>
              <a:defRPr sz="1300">
                <a:solidFill>
                  <a:srgbClr val="F5F8FF"/>
                </a:solidFill>
                <a:latin typeface="Aptos"/>
              </a:defRPr>
            </a:pPr>
            <a:r>
              <a:t>•  Remove duplicate records and correct formats</a:t>
            </a:r>
          </a:p>
          <a:p>
            <a:pPr>
              <a:spcAft>
                <a:spcPts val="800"/>
              </a:spcAft>
              <a:defRPr sz="1300">
                <a:solidFill>
                  <a:srgbClr val="F5F8FF"/>
                </a:solidFill>
                <a:latin typeface="Aptos"/>
              </a:defRPr>
            </a:pPr>
            <a:r>
              <a:t>•  Encode categorical features where required</a:t>
            </a:r>
          </a:p>
          <a:p>
            <a:pPr>
              <a:spcAft>
                <a:spcPts val="800"/>
              </a:spcAft>
              <a:defRPr sz="1300">
                <a:solidFill>
                  <a:srgbClr val="F5F8FF"/>
                </a:solidFill>
                <a:latin typeface="Aptos"/>
              </a:defRPr>
            </a:pPr>
            <a:r>
              <a:t>•  Create browsing, time and spending features</a:t>
            </a:r>
          </a:p>
          <a:p>
            <a:pPr>
              <a:spcAft>
                <a:spcPts val="800"/>
              </a:spcAft>
              <a:defRPr sz="1300">
                <a:solidFill>
                  <a:srgbClr val="F5F8FF"/>
                </a:solidFill>
                <a:latin typeface="Aptos"/>
              </a:defRPr>
            </a:pPr>
            <a:r>
              <a:t>•  Explore distributions, relationships and outliers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21808"/>
            <a:ext cx="105156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FFC457"/>
                </a:solidFill>
                <a:latin typeface="Aptos"/>
              </a:rPr>
              <a:t>Note: dataset names and counts are taken from the supplied documentation; confirm them against the final data files before formal submission.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06 /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End-to-End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A single analytical pipeline connects data preparation, customer grouping, purchase prediction and business interpretation.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304288"/>
            <a:ext cx="1719072" cy="199339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2450592"/>
            <a:ext cx="475488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478024"/>
            <a:ext cx="40233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926080"/>
            <a:ext cx="1426463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4D3DB"/>
                </a:solidFill>
                <a:latin typeface="Aptos"/>
              </a:rPr>
              <a:t>DATA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328416"/>
            <a:ext cx="1426463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Spending • profiles
Online 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4580" y="3127248"/>
            <a:ext cx="2011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EBCD8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9464" y="2304288"/>
            <a:ext cx="1719072" cy="199339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15768" y="2450592"/>
            <a:ext cx="475488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9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52344" y="2478024"/>
            <a:ext cx="40233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9978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5768" y="2926080"/>
            <a:ext cx="1426463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9978FF"/>
                </a:solidFill>
                <a:latin typeface="Aptos"/>
              </a:rPr>
              <a:t>PREPARE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768" y="3328416"/>
            <a:ext cx="1426463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Clean • encode
Feature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2251" y="3127248"/>
            <a:ext cx="2011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EBCD8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17136" y="2304288"/>
            <a:ext cx="1719072" cy="199339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63440" y="2450592"/>
            <a:ext cx="475488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40E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478024"/>
            <a:ext cx="40233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0E0BE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926080"/>
            <a:ext cx="1426463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0E0BE"/>
                </a:solidFill>
                <a:latin typeface="Aptos"/>
              </a:rPr>
              <a:t>EXPLORE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328416"/>
            <a:ext cx="1426463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EDA • patterns
Feature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9923" y="3127248"/>
            <a:ext cx="2011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EBCD8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64807" y="2304288"/>
            <a:ext cx="1719072" cy="199339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11112" y="2450592"/>
            <a:ext cx="475488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47688" y="2478024"/>
            <a:ext cx="40233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C457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2926080"/>
            <a:ext cx="1426463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C457"/>
                </a:solidFill>
                <a:latin typeface="Aptos"/>
              </a:rPr>
              <a:t>SEGMENT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3328416"/>
            <a:ext cx="1426463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K-Means
4 customer groups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7596" y="3127248"/>
            <a:ext cx="2011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EBCD8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2304288"/>
            <a:ext cx="1719072" cy="199339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558784" y="2450592"/>
            <a:ext cx="475488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FF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59" y="2478024"/>
            <a:ext cx="40233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7BA0"/>
                </a:solidFill>
                <a:latin typeface="Apto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58784" y="2926080"/>
            <a:ext cx="1426463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BA0"/>
                </a:solidFill>
                <a:latin typeface="Aptos"/>
              </a:rPr>
              <a:t>PREDICT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58784" y="3328416"/>
            <a:ext cx="1426463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MLP neural network
Purchase / no purchase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5267" y="3127248"/>
            <a:ext cx="2011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EBCD8"/>
                </a:solidFill>
                <a:latin typeface="Apto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60151" y="2304288"/>
            <a:ext cx="1719072" cy="199339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506455" y="2450592"/>
            <a:ext cx="475488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43031" y="2478024"/>
            <a:ext cx="40233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06455" y="2926080"/>
            <a:ext cx="1426463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4D3DB"/>
                </a:solidFill>
                <a:latin typeface="Aptos"/>
              </a:rPr>
              <a:t>PRESENT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06455" y="3328416"/>
            <a:ext cx="1426463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ConsumerPulse AI
BI dashboard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" y="4800600"/>
            <a:ext cx="10241280" cy="804672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0432" y="5010912"/>
            <a:ext cx="9784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OUTPUTS  •  Customer segments  •  Purchase propensity  •  Spending patterns  •  Business insights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" y="5925312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AEBCD8"/>
                </a:solidFill>
                <a:latin typeface="Aptos"/>
              </a:rPr>
              <a:t>Churn, customer lifetime value, autoencoders and SHAP/LIME are described as additional or future capabilities in the documentation.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07 / MODELLING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Purchase Prediction with an MLP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A Multi-Layer Perceptron learns relationships between session behaviour and the purchase outcome.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74519"/>
            <a:ext cx="4754880" cy="352044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21408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4D3DB"/>
                </a:solidFill>
                <a:latin typeface="Aptos"/>
              </a:rPr>
              <a:t>MODEL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587752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0E0BE"/>
                </a:solidFill>
                <a:latin typeface="Aptos"/>
              </a:rPr>
              <a:t>Input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4872" y="2587752"/>
            <a:ext cx="27249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Page views, browsing duration, bounce rate, exit rate, page value, visitor type, weekend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118104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0E0BE"/>
                </a:solidFill>
                <a:latin typeface="Aptos"/>
              </a:rPr>
              <a:t>Hidden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3118104"/>
            <a:ext cx="27249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48 neurons → 24 neurons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648456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0E0BE"/>
                </a:solidFill>
                <a:latin typeface="Aptos"/>
              </a:rPr>
              <a:t>Activation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4872" y="3648456"/>
            <a:ext cx="27249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ReLU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178808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0E0BE"/>
                </a:solidFill>
                <a:latin typeface="Aptos"/>
              </a:rPr>
              <a:t>Optimizer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4178808"/>
            <a:ext cx="27249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Adam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709160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0E0BE"/>
                </a:solidFill>
                <a:latin typeface="Aptos"/>
              </a:rPr>
              <a:t>Training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04872" y="4709160"/>
            <a:ext cx="27249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Maximum iterations: 120 • Random state: 42 • Early stopping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6440" y="1874519"/>
            <a:ext cx="5440680" cy="3520440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121408"/>
            <a:ext cx="4754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9978FF"/>
                </a:solidFill>
                <a:latin typeface="Aptos"/>
              </a:rPr>
              <a:t>CONCEPTUAL NETWORK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2880360"/>
            <a:ext cx="219456" cy="219456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219456" cy="219456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92240" y="3922776"/>
            <a:ext cx="219456" cy="219456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92240" y="4443984"/>
            <a:ext cx="219456" cy="219456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01000" y="2761488"/>
            <a:ext cx="219456" cy="219456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01000" y="3127248"/>
            <a:ext cx="219456" cy="219456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01000" y="3493008"/>
            <a:ext cx="219456" cy="219456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01000" y="3858768"/>
            <a:ext cx="219456" cy="219456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1000" y="4224528"/>
            <a:ext cx="219456" cy="219456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01000" y="4590288"/>
            <a:ext cx="219456" cy="219456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55480" y="3108960"/>
            <a:ext cx="219456" cy="219456"/>
          </a:xfrm>
          <a:prstGeom prst="ellipse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55480" y="3749039"/>
            <a:ext cx="219456" cy="219456"/>
          </a:xfrm>
          <a:prstGeom prst="ellipse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555480" y="4389120"/>
            <a:ext cx="219456" cy="219456"/>
          </a:xfrm>
          <a:prstGeom prst="ellipse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V="1">
            <a:off x="6711696" y="2871216"/>
            <a:ext cx="1289304" cy="11887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711696" y="2990088"/>
            <a:ext cx="1289304" cy="24688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711696" y="2990088"/>
            <a:ext cx="1289304" cy="61264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711696" y="2990088"/>
            <a:ext cx="1289304" cy="97840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711696" y="2990088"/>
            <a:ext cx="1289304" cy="134416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711696" y="2990088"/>
            <a:ext cx="1289304" cy="170992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711696" y="2871216"/>
            <a:ext cx="1289304" cy="640080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711696" y="3236976"/>
            <a:ext cx="1289304" cy="274320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711696" y="3511296"/>
            <a:ext cx="1289304" cy="91440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711696" y="3511296"/>
            <a:ext cx="1289304" cy="457200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711696" y="3511296"/>
            <a:ext cx="1289304" cy="822960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711696" y="3511296"/>
            <a:ext cx="1289304" cy="1188720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711696" y="2871216"/>
            <a:ext cx="1289304" cy="116128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6711696" y="3236976"/>
            <a:ext cx="1289304" cy="79552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711696" y="3602736"/>
            <a:ext cx="1289304" cy="42976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711696" y="3968496"/>
            <a:ext cx="1289304" cy="6400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711696" y="4032504"/>
            <a:ext cx="1289304" cy="30175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711696" y="4032504"/>
            <a:ext cx="1289304" cy="66751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711696" y="2871216"/>
            <a:ext cx="1289304" cy="1682496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711696" y="3236976"/>
            <a:ext cx="1289304" cy="1316736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711696" y="3602736"/>
            <a:ext cx="1289304" cy="950976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711696" y="3968496"/>
            <a:ext cx="1289304" cy="585216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711696" y="4334256"/>
            <a:ext cx="1289304" cy="219456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711696" y="4553712"/>
            <a:ext cx="1289304" cy="146304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220456" y="2871216"/>
            <a:ext cx="1335024" cy="34747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220456" y="2871216"/>
            <a:ext cx="1335024" cy="98755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220456" y="2871216"/>
            <a:ext cx="1335024" cy="162763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220456" y="3218688"/>
            <a:ext cx="1335024" cy="1828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220456" y="3236976"/>
            <a:ext cx="1335024" cy="62179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220456" y="3236976"/>
            <a:ext cx="1335024" cy="126187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8220456" y="3218688"/>
            <a:ext cx="1335024" cy="38404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220456" y="3602736"/>
            <a:ext cx="1335024" cy="25603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220456" y="3602736"/>
            <a:ext cx="1335024" cy="89611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220456" y="3218688"/>
            <a:ext cx="1335024" cy="74980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220456" y="3858768"/>
            <a:ext cx="1335024" cy="10972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220456" y="3968496"/>
            <a:ext cx="1335024" cy="53035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220456" y="3218688"/>
            <a:ext cx="1335024" cy="111556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220456" y="3858768"/>
            <a:ext cx="1335024" cy="47548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220456" y="4334256"/>
            <a:ext cx="1335024" cy="16459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220456" y="3218688"/>
            <a:ext cx="1335024" cy="148132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220456" y="3858768"/>
            <a:ext cx="1335024" cy="84124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220456" y="4498848"/>
            <a:ext cx="1335024" cy="20116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172200" y="4983480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INPUT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35240" y="4983480"/>
            <a:ext cx="1188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9978FF"/>
                </a:solidFill>
                <a:latin typeface="Aptos"/>
              </a:rPr>
              <a:t>48 → 24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89720" y="4983480"/>
            <a:ext cx="1097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0E0BE"/>
                </a:solidFill>
                <a:latin typeface="Aptos"/>
              </a:rPr>
              <a:t>OUTPUT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" y="5742432"/>
            <a:ext cx="10424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CD8"/>
                </a:solidFill>
                <a:latin typeface="Aptos"/>
              </a:rPr>
              <a:t>Target: classify a shopping session as purchase or no purchase.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08 / CUSTOMER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K-Means: Four Customer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Customers are clustered using demographic, spending, satisfaction and loyalty characteristics.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212080" cy="126187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2057400"/>
            <a:ext cx="502920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84831"/>
            <a:ext cx="4297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039112"/>
            <a:ext cx="397763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4D3DB"/>
                </a:solidFill>
                <a:latin typeface="Aptos"/>
              </a:rPr>
              <a:t>HIGH-VALUE / 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404872"/>
            <a:ext cx="397763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Higher spending and stronger engagement; nurture loyalty.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874519"/>
            <a:ext cx="5212080" cy="126187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73951" y="2057400"/>
            <a:ext cx="502920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9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7" y="2084831"/>
            <a:ext cx="4297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9978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039112"/>
            <a:ext cx="397763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9978FF"/>
                </a:solidFill>
                <a:latin typeface="Aptos"/>
              </a:rPr>
              <a:t>POTENTIAL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404872"/>
            <a:ext cx="397763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Moderate activity; targeted offers may encourage repeat purchases.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47287"/>
            <a:ext cx="5212080" cy="126187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6112" y="3630168"/>
            <a:ext cx="502920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657599"/>
            <a:ext cx="4297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C457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611879"/>
            <a:ext cx="397763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C457"/>
                </a:solidFill>
                <a:latin typeface="Aptos"/>
              </a:rPr>
              <a:t>LOW-ENGAGEMENT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977639"/>
            <a:ext cx="397763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Lower activity or satisfaction; investigate barriers and improve experience.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3447287"/>
            <a:ext cx="5212080" cy="126187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73951" y="3630168"/>
            <a:ext cx="502920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FF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7" y="3657599"/>
            <a:ext cx="4297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7BA0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611879"/>
            <a:ext cx="397763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7BA0"/>
                </a:solidFill>
                <a:latin typeface="Aptos"/>
              </a:rPr>
              <a:t>AT-RISK / INACTIVE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977639"/>
            <a:ext cx="397763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Limited engagement; consider retention-oriented outreach.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5257800"/>
            <a:ext cx="10698480" cy="530352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404104"/>
            <a:ext cx="103327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FFC457"/>
                </a:solidFill>
                <a:latin typeface="Aptos"/>
              </a:rPr>
              <a:t>Segments are conceptual business labels; validate their final meaning against the actual cluster profiles.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09 /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Reported Purchase Prediction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The research paper reports validation performance for the MLP purchase-intention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29968"/>
            <a:ext cx="4526280" cy="199339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04288"/>
            <a:ext cx="3931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4D3DB"/>
                </a:solidFill>
                <a:latin typeface="Aptos"/>
              </a:rPr>
              <a:t>VALIDATION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97480"/>
            <a:ext cx="39319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 i="0">
                <a:solidFill>
                  <a:srgbClr val="F5F8FF"/>
                </a:solidFill>
                <a:latin typeface="Aptos"/>
              </a:rPr>
              <a:t>89.55%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56432"/>
            <a:ext cx="3931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AEBCD8"/>
                </a:solidFill>
                <a:latin typeface="Aptos"/>
              </a:rPr>
              <a:t>Correct classifications on validation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29968"/>
            <a:ext cx="4526280" cy="199339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304288"/>
            <a:ext cx="3931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9978FF"/>
                </a:solidFill>
                <a:latin typeface="Aptos"/>
              </a:rPr>
              <a:t>ROC–AUC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97480"/>
            <a:ext cx="39319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 i="0">
                <a:solidFill>
                  <a:srgbClr val="F5F8FF"/>
                </a:solidFill>
                <a:latin typeface="Aptos"/>
              </a:rPr>
              <a:t>92.34%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56432"/>
            <a:ext cx="3931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AEBCD8"/>
                </a:solidFill>
                <a:latin typeface="Aptos"/>
              </a:rPr>
              <a:t>Reported ability to separate the two classes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407408"/>
            <a:ext cx="10058400" cy="914400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590288"/>
            <a:ext cx="96012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Interpretation: the reported scores are promising, but independent testing, class-wise metrics and validation on additional datasets are needed before real-world deployment.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87568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AEBCD8"/>
                </a:solidFill>
                <a:latin typeface="Aptos"/>
              </a:rPr>
              <a:t>Source: supplied research paper and project documentation. These are reported results, not independently re-run 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10 / BUSINESS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ConsumerPulse AI: From Model Output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The prototype dashboard brings customer profiles, spending patterns, segments and purchase predictions into one 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47088"/>
            <a:ext cx="6675120" cy="3886200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39112"/>
            <a:ext cx="6126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4D3DB"/>
                </a:solidFill>
                <a:latin typeface="Aptos"/>
              </a:rPr>
              <a:t>CONSUMERPULSE AI  /  CUSTOMER OVERVIEW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487168"/>
            <a:ext cx="1755648" cy="71323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587752"/>
            <a:ext cx="15727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16352"/>
            <a:ext cx="157276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34D3DB"/>
                </a:solidFill>
                <a:latin typeface="Aptos"/>
              </a:rPr>
              <a:t>12.3K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487168"/>
            <a:ext cx="1755648" cy="71323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587752"/>
            <a:ext cx="15727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SEGMENTS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816352"/>
            <a:ext cx="157276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9978FF"/>
                </a:solidFill>
                <a:latin typeface="Aptos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2487168"/>
            <a:ext cx="1755648" cy="71323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79" y="2587752"/>
            <a:ext cx="15727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PREDICTION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79" y="2816352"/>
            <a:ext cx="157276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40E0BE"/>
                </a:solidFill>
                <a:latin typeface="Aptos"/>
              </a:rPr>
              <a:t>MLP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493008"/>
            <a:ext cx="2560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EBCD8"/>
                </a:solidFill>
                <a:latin typeface="Aptos"/>
              </a:rPr>
              <a:t>CUSTOMER SEGMENT MIX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4526280"/>
            <a:ext cx="310896" cy="731520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27631" y="4206240"/>
            <a:ext cx="310896" cy="1051560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57984" y="4663440"/>
            <a:ext cx="310896" cy="594360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8335" y="3931920"/>
            <a:ext cx="310896" cy="1325880"/>
          </a:xfrm>
          <a:prstGeom prst="rect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3493008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EBCD8"/>
                </a:solidFill>
                <a:latin typeface="Aptos"/>
              </a:rPr>
              <a:t>PURCHASE PROPENSITY TREND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794760" y="4663440"/>
            <a:ext cx="594360" cy="320040"/>
          </a:xfrm>
          <a:prstGeom prst="line">
            <a:avLst/>
          </a:prstGeom>
          <a:ln w="29209">
            <a:solidFill>
              <a:srgbClr val="34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389120" y="4663440"/>
            <a:ext cx="594360" cy="109728"/>
          </a:xfrm>
          <a:prstGeom prst="line">
            <a:avLst/>
          </a:prstGeom>
          <a:ln w="29209">
            <a:solidFill>
              <a:srgbClr val="34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983480" y="4251960"/>
            <a:ext cx="594360" cy="521208"/>
          </a:xfrm>
          <a:prstGeom prst="line">
            <a:avLst/>
          </a:prstGeom>
          <a:ln w="29209">
            <a:solidFill>
              <a:srgbClr val="34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577840" y="3977639"/>
            <a:ext cx="594360" cy="274321"/>
          </a:xfrm>
          <a:prstGeom prst="line">
            <a:avLst/>
          </a:prstGeom>
          <a:ln w="29209">
            <a:solidFill>
              <a:srgbClr val="34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172200" y="3977639"/>
            <a:ext cx="548640" cy="155448"/>
          </a:xfrm>
          <a:prstGeom prst="line">
            <a:avLst/>
          </a:prstGeom>
          <a:ln w="29209">
            <a:solidFill>
              <a:srgbClr val="34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3749040" y="4937760"/>
            <a:ext cx="91440" cy="91440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3400" y="4617720"/>
            <a:ext cx="91440" cy="91440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937760" y="4727448"/>
            <a:ext cx="91440" cy="91440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532120" y="4206240"/>
            <a:ext cx="91440" cy="91440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126480" y="3931920"/>
            <a:ext cx="91440" cy="91440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75120" y="4087368"/>
            <a:ext cx="91440" cy="91440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413248"/>
            <a:ext cx="5760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AEBCD8"/>
                </a:solidFill>
                <a:latin typeface="Aptos"/>
              </a:rPr>
              <a:t>Illustrative dashboard layout — not a screenshot or measured live output.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26679" y="1874519"/>
            <a:ext cx="3611880" cy="102412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26679" y="2020824"/>
            <a:ext cx="50292" cy="731520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27848" y="2039112"/>
            <a:ext cx="32644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34D3DB"/>
                </a:solidFill>
                <a:latin typeface="Aptos"/>
              </a:rPr>
              <a:t>UNDERSTAND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27848" y="2441448"/>
            <a:ext cx="3264408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Profile spending and customer behaviour.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26679" y="3090672"/>
            <a:ext cx="3611880" cy="102412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26679" y="3236976"/>
            <a:ext cx="50292" cy="731520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27848" y="3255264"/>
            <a:ext cx="32644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9978FF"/>
                </a:solidFill>
                <a:latin typeface="Aptos"/>
              </a:rPr>
              <a:t>TARGET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27848" y="3657600"/>
            <a:ext cx="3264408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Tailor campaigns to meaningful segments.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26679" y="4306824"/>
            <a:ext cx="3611880" cy="102412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26679" y="4453128"/>
            <a:ext cx="50292" cy="731520"/>
          </a:xfrm>
          <a:prstGeom prst="rect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27848" y="4471416"/>
            <a:ext cx="32644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0E0BE"/>
                </a:solidFill>
                <a:latin typeface="Aptos"/>
              </a:rPr>
              <a:t>RETAIN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27848" y="4873752"/>
            <a:ext cx="3264408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Use engagement signals to guide follow-up.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5623560"/>
            <a:ext cx="3474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AEBCD8"/>
                </a:solidFill>
                <a:latin typeface="Aptos"/>
              </a:rPr>
              <a:t>Decision support—not a replacement for business judgment.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11 /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Technology Stack &amp;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The framework is designed to run on commonly available tools and standard computing hardware.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01952"/>
            <a:ext cx="3429000" cy="24231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48256"/>
            <a:ext cx="50292" cy="2130552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6654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4D3DB"/>
                </a:solidFill>
                <a:latin typeface="Aptos"/>
              </a:rPr>
              <a:t>DATA &amp;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68880"/>
            <a:ext cx="3081528" cy="1737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5F8FF"/>
                </a:solidFill>
                <a:latin typeface="Aptos"/>
              </a:rPr>
              <a:t>Python
Pandas • NumPy
Matplotlib
CSV / Excel datasets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901952"/>
            <a:ext cx="3429000" cy="24231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048256"/>
            <a:ext cx="50292" cy="2130552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06654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9978FF"/>
                </a:solidFill>
                <a:latin typeface="Aptos"/>
              </a:rPr>
              <a:t>MODELLING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68880"/>
            <a:ext cx="3081528" cy="1737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5F8FF"/>
                </a:solidFill>
                <a:latin typeface="Aptos"/>
              </a:rPr>
              <a:t>Scikit-learn
MLP neural network
K-Means clustering
Jupyter / Google Colab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901952"/>
            <a:ext cx="3429000" cy="24231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2048256"/>
            <a:ext cx="50292" cy="2130552"/>
          </a:xfrm>
          <a:prstGeom prst="rect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206654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0E0BE"/>
                </a:solidFill>
                <a:latin typeface="Aptos"/>
              </a:rPr>
              <a:t>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468880"/>
            <a:ext cx="3081528" cy="1737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5F8FF"/>
                </a:solidFill>
                <a:latin typeface="Aptos"/>
              </a:rPr>
              <a:t>Streamlit dashboard
Interactive visualizations
Customer profiles
Business insights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681728"/>
            <a:ext cx="10652760" cy="868680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882896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4D3DB"/>
                </a:solidFill>
                <a:latin typeface="Aptos"/>
              </a:rPr>
              <a:t>HARDWARE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828032"/>
            <a:ext cx="82296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Intel Core or equivalent  •  8 GB RAM recommended  •  10 GB free storage  •  GPU optional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24728"/>
            <a:ext cx="10332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Open-source libraries and standard hardware make the prototype technically and economically feasible.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12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The current project focuses on K-Means segmentation, MLP purchase prediction and dashboard-based insight.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01952"/>
            <a:ext cx="5166360" cy="15087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2048256"/>
            <a:ext cx="50292" cy="1216151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66544"/>
            <a:ext cx="48188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4D3DB"/>
                </a:solidFill>
                <a:latin typeface="Aptos"/>
              </a:rPr>
              <a:t>VALIDATE MORE BROADLY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468880"/>
            <a:ext cx="4818888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Test on independent datasets; document data splits, class balance and additional metrics.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901952"/>
            <a:ext cx="5166360" cy="15087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2048256"/>
            <a:ext cx="50292" cy="1216151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066544"/>
            <a:ext cx="48188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9978FF"/>
                </a:solidFill>
                <a:latin typeface="Aptos"/>
              </a:rPr>
              <a:t>IMPROVE INTERPRETABILITY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4818888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Integrate SHAP/LIME explanations after verifying implementation and model compatibility.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703320"/>
            <a:ext cx="5166360" cy="15087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" y="3849624"/>
            <a:ext cx="50292" cy="1216151"/>
          </a:xfrm>
          <a:prstGeom prst="rect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867911"/>
            <a:ext cx="48188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40E0BE"/>
                </a:solidFill>
                <a:latin typeface="Aptos"/>
              </a:rPr>
              <a:t>EXPAND MODELLING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270248"/>
            <a:ext cx="4818888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Explore sequence-based models such as LSTM or transformers where ordered session data is available.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3703320"/>
            <a:ext cx="5166360" cy="15087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3849624"/>
            <a:ext cx="50292" cy="1216151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867911"/>
            <a:ext cx="48188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C457"/>
                </a:solidFill>
                <a:latin typeface="Aptos"/>
              </a:rPr>
              <a:t>EXTEND CUSTOMER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70248"/>
            <a:ext cx="4818888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Validate churn prediction, CLV estimation and autoencoder-based analysis as future modules.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715000"/>
            <a:ext cx="10424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AEBCD8"/>
                </a:solidFill>
                <a:latin typeface="Aptos"/>
              </a:rPr>
              <a:t>Important: these extensions are future directions in the supplied documentation, not claimed as completed results.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13 /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From Customer Data to Better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An integrated workflow helps connect customer understanding with predictive signals and business action.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38528"/>
            <a:ext cx="2578608" cy="118872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23591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34D3DB"/>
                </a:solidFill>
                <a:latin typeface="Aptos"/>
              </a:rPr>
              <a:t>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42032"/>
            <a:ext cx="230428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Customer and spending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0984" y="2350008"/>
            <a:ext cx="2560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EBCD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938528"/>
            <a:ext cx="2578608" cy="118872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8" y="2148840"/>
            <a:ext cx="23591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9978FF"/>
                </a:solidFill>
                <a:latin typeface="Aptos"/>
              </a:rPr>
              <a:t>SEGMENT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542032"/>
            <a:ext cx="230428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Four K-Means customer groups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2350008"/>
            <a:ext cx="2560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EBCD8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9088" y="1938528"/>
            <a:ext cx="2578608" cy="118872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2148840"/>
            <a:ext cx="23591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40E0BE"/>
                </a:solidFill>
                <a:latin typeface="Aptos"/>
              </a:rPr>
              <a:t>PREDICT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542032"/>
            <a:ext cx="230428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MLP purchase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350008"/>
            <a:ext cx="2560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EBCD8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72015" y="1938528"/>
            <a:ext cx="2578608" cy="118872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81743" y="2148840"/>
            <a:ext cx="23591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C457"/>
                </a:solidFill>
                <a:latin typeface="Aptos"/>
              </a:rPr>
              <a:t>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2542032"/>
            <a:ext cx="230428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Dashboard-supported insights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3547872"/>
            <a:ext cx="10652760" cy="1965960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767328"/>
            <a:ext cx="4663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4D3DB"/>
                </a:solidFill>
                <a:latin typeface="Aptos"/>
              </a:rPr>
              <a:t>KEY REPORTED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096512"/>
            <a:ext cx="466344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89.55% validation accuracy  •  92.34% ROC-AUC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3767328"/>
            <a:ext cx="4937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978FF"/>
                </a:solidFill>
                <a:latin typeface="Aptos"/>
              </a:rPr>
              <a:t>REFERENCES / BASIS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4096512"/>
            <a:ext cx="4892040" cy="11430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F5F8FF"/>
                </a:solidFill>
                <a:latin typeface="Aptos"/>
              </a:defRPr>
            </a:pPr>
            <a:r>
              <a:t>•  Supplied research paper: Deep Learning-Driven Customer Analytics</a:t>
            </a:r>
          </a:p>
          <a:p>
            <a:pPr>
              <a:spcAft>
                <a:spcPts val="500"/>
              </a:spcAft>
              <a:defRPr sz="1000">
                <a:solidFill>
                  <a:srgbClr val="F5F8FF"/>
                </a:solidFill>
                <a:latin typeface="Aptos"/>
              </a:defRPr>
            </a:pPr>
            <a:r>
              <a:t>•  Supplied project documentation, Sections 3–7</a:t>
            </a:r>
          </a:p>
          <a:p>
            <a:pPr>
              <a:spcAft>
                <a:spcPts val="500"/>
              </a:spcAft>
              <a:defRPr sz="1000">
                <a:solidFill>
                  <a:srgbClr val="F5F8FF"/>
                </a:solidFill>
                <a:latin typeface="Aptos"/>
              </a:defRPr>
            </a:pPr>
            <a:r>
              <a:t>•  Key related work cited in the report: Sakar et al.; Ribeiro et al.; Lundberg &amp; Lee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989320"/>
            <a:ext cx="10332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34D3DB"/>
                </a:solidFill>
                <a:latin typeface="Aptos"/>
              </a:rPr>
              <a:t>Thank you  •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